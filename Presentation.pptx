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3" r:id="rId6"/>
    <p:sldId id="257" r:id="rId7"/>
    <p:sldId id="258" r:id="rId8"/>
    <p:sldId id="267" r:id="rId9"/>
    <p:sldId id="268" r:id="rId10"/>
    <p:sldId id="269" r:id="rId11"/>
    <p:sldId id="270" r:id="rId12"/>
    <p:sldId id="264" r:id="rId13"/>
    <p:sldId id="271" r:id="rId14"/>
    <p:sldId id="272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04040"/>
    <a:srgbClr val="CE295E"/>
    <a:srgbClr val="A6A6A6"/>
    <a:srgbClr val="F2F2F2"/>
    <a:srgbClr val="BFBFBF"/>
    <a:srgbClr val="E37777"/>
    <a:srgbClr val="64A4CA"/>
    <a:srgbClr val="66C5F3"/>
    <a:srgbClr val="F2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612" y="56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5DE61D-30EF-4C9B-8D44-E691F3239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8B3DF-723E-432F-969B-97B388C9E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EDC24-AEF3-4156-91F4-FB474A5F24DB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9C936-9EF8-46A3-B2D4-DE8362A54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7898E-02B9-4C24-8F47-60A833CD3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3B91B-56FA-44FF-A036-17B4166BAD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503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ADAE-72AB-CF77-64B6-8981FAAA20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56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CAA21-AD9B-0E60-1E5A-355E6C8307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3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1657E-C6BA-8EEF-2A98-C22A2C6582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76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5FB47-37C8-FEE1-1B68-758104E2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C4D1F-FB20-29FC-8E21-BCCDABFA4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228CD-8D5A-A11D-F434-3613FCACE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3322-DD9C-B7B2-B8C9-5658B4F16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57CCD-6F68-2770-FC67-9451D9B61D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621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E11E-5EF1-41DD-666B-7E36336E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4869F-8DF3-811D-D210-9582CCA74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0EFD5-728F-5A0E-AD56-6B5CA6E9D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A7834-9F39-A6DA-6CB7-533B4BDEC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ADB9B-F3D3-F85D-B637-8CEA711C31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48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D15D-9EA0-5929-67A5-6534F904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8F478-A899-8CB5-3758-D64B28232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7F7EB-9778-9E9C-A24D-B309E3431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91F63-D9D9-527B-4782-239AB84E2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813F2-AF16-4C86-2E8D-34039AFD3A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637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7BEC-3093-B1CA-0E23-268B53D5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4BF26-CAEA-964F-A9F0-A52D46189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48EEF-87F9-41E4-3AC9-7DD28AC3D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1ADFC-E42C-2615-F779-F6523A878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EC9B3-4C06-1442-C053-42A4896833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305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2FC69-82C6-9BFC-6B5C-9091327720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350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6A77-89D0-EAC5-9A83-9E66103B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15E7D-3FCF-3620-943C-AD6F08B0B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C141E-3F30-D897-4F27-3797EBAE0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CD4BE-E9F9-F56A-1A4B-80D9A1A61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35D5-B9B5-5EF5-FA6B-0EFE4BF33A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055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753E-8698-1A3C-0F81-3F6FBFEC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AF7B4-F0F8-2BF0-9AD4-649F2326D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6D899-B62E-91B6-59A3-8595E17CE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29C67-D837-62AB-DC36-33FA73536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ABB2C-281A-6B59-CFB2-C1E147F289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949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9F2A-7F03-A6C8-2800-C24E41E4F4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Github link: https://github.com/Aravind235/final_project_winter2025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4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lIns="0" tIns="0" rIns="0" bIns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lprojectwinter2025.streamlit.app/" TargetMode="External"/><Relationship Id="rId2" Type="http://schemas.openxmlformats.org/officeDocument/2006/relationships/hyperlink" Target="https://github.com/Aravind235/final_project_winter2025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 of a city. 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111C5-A78D-479B-8C31-7C75D5475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470" y="297509"/>
            <a:ext cx="11471060" cy="6262983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07CD1A-2477-48CA-8693-2133EA1C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67698" y="1224091"/>
            <a:ext cx="3856603" cy="4409819"/>
            <a:chOff x="4167698" y="1500698"/>
            <a:chExt cx="3856603" cy="44098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D1319-7BD4-47DE-B3DF-55B655BB34C4}"/>
                </a:ext>
              </a:extLst>
            </p:cNvPr>
            <p:cNvSpPr/>
            <p:nvPr/>
          </p:nvSpPr>
          <p:spPr>
            <a:xfrm rot="18900000">
              <a:off x="4167698" y="1500698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6B26EE-CB0C-4C1C-981C-B7972827533E}"/>
                </a:ext>
              </a:extLst>
            </p:cNvPr>
            <p:cNvSpPr/>
            <p:nvPr/>
          </p:nvSpPr>
          <p:spPr>
            <a:xfrm rot="18900000">
              <a:off x="4167699" y="2053915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3509884" y="2556459"/>
            <a:ext cx="4957222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Analysis of Global Terrorism Trends (1970–2017)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57E54-1FC4-4040-9DF5-1D27FD6B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-6742765" y="-1434593"/>
            <a:ext cx="3681702" cy="3681702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5100" y="4684347"/>
            <a:ext cx="4957222" cy="102466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Insights from the Global Terrorism Database (GTD)</a:t>
            </a:r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20D1C37-27ED-4160-AE67-E6F23CD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913E2-863A-DCE6-B75D-3BDE5182402B}"/>
              </a:ext>
            </a:extLst>
          </p:cNvPr>
          <p:cNvSpPr txBox="1"/>
          <p:nvPr/>
        </p:nvSpPr>
        <p:spPr>
          <a:xfrm>
            <a:off x="536263" y="1444354"/>
            <a:ext cx="3540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Aravind </a:t>
            </a:r>
            <a:r>
              <a:rPr lang="en-US" sz="2000" dirty="0" err="1">
                <a:solidFill>
                  <a:srgbClr val="00B0F0"/>
                </a:solidFill>
              </a:rPr>
              <a:t>Kagganti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dirty="0" err="1">
                <a:solidFill>
                  <a:srgbClr val="00B0F0"/>
                </a:solidFill>
              </a:rPr>
              <a:t>Anjinamurthy</a:t>
            </a:r>
            <a:br>
              <a:rPr lang="en-US" sz="2000" dirty="0">
                <a:solidFill>
                  <a:srgbClr val="00B0F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Final Project 2025</a:t>
            </a:r>
            <a:endParaRPr lang="en-GB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3713AA-BCF4-5683-F075-A4817755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6C770-4103-93B9-0296-B4A7F8CF3831}"/>
              </a:ext>
            </a:extLst>
          </p:cNvPr>
          <p:cNvSpPr txBox="1"/>
          <p:nvPr/>
        </p:nvSpPr>
        <p:spPr>
          <a:xfrm>
            <a:off x="1325217" y="1543879"/>
            <a:ext cx="10449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B0F0"/>
                </a:solidFill>
              </a:rPr>
              <a:t>Github</a:t>
            </a:r>
            <a:r>
              <a:rPr lang="en-US" sz="2400" dirty="0">
                <a:solidFill>
                  <a:srgbClr val="00B0F0"/>
                </a:solidFill>
              </a:rPr>
              <a:t> link: </a:t>
            </a:r>
            <a:r>
              <a:rPr lang="en-US" sz="2400" dirty="0">
                <a:solidFill>
                  <a:srgbClr val="00B0F0"/>
                </a:solidFill>
                <a:hlinkClick r:id="rId2"/>
              </a:rPr>
              <a:t>https://github.com/Aravind235/final_project_winter2025</a:t>
            </a:r>
            <a:br>
              <a:rPr lang="en-US" sz="2400" dirty="0">
                <a:solidFill>
                  <a:srgbClr val="00B0F0"/>
                </a:solidFill>
              </a:rPr>
            </a:br>
            <a:r>
              <a:rPr lang="en-US" sz="2400" dirty="0" err="1">
                <a:solidFill>
                  <a:srgbClr val="00B0F0"/>
                </a:solidFill>
              </a:rPr>
              <a:t>Streamlit</a:t>
            </a:r>
            <a:r>
              <a:rPr lang="en-US" sz="2400" dirty="0">
                <a:solidFill>
                  <a:srgbClr val="00B0F0"/>
                </a:solidFill>
              </a:rPr>
              <a:t> link: </a:t>
            </a:r>
            <a:r>
              <a:rPr lang="en-US" sz="2400" dirty="0">
                <a:solidFill>
                  <a:srgbClr val="00B0F0"/>
                </a:solidFill>
                <a:hlinkClick r:id="rId3"/>
              </a:rPr>
              <a:t>https://finalprojectwinter2025.streamlit.app/</a:t>
            </a:r>
            <a:endParaRPr lang="en-GB" sz="2400" dirty="0">
              <a:solidFill>
                <a:srgbClr val="00B0F0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1356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724395" y="1949691"/>
            <a:ext cx="10996698" cy="267765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Objective:</a:t>
            </a:r>
            <a:r>
              <a:rPr lang="en-US" sz="2000" dirty="0"/>
              <a:t> To analyze historical terrorism data to uncover patterns in frequency, geographic distribution, and operational tactics over the last 50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Source: Global Terrorism Database (GTD) via Kaggle/START UMD.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Scope: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Period: 1970 to 2017.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Volume: ~180,000+ recorded incidents.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Variables: Dates, Locations (Lat/Lon), Attack Types, Weapons, Casualties, and Group Names.</a:t>
            </a: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2831E1-31DF-4125-9BCB-8937CAE5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2267" y="1460593"/>
            <a:ext cx="385764" cy="3857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en-GB" dirty="0"/>
              <a:t>Objective &amp; Dataset</a:t>
            </a:r>
            <a:endParaRPr lang="en-US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"When" – Global Trends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1AE40-02DB-42C8-7F59-A6F41F550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69" y="1294102"/>
            <a:ext cx="6100453" cy="38835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BCDD31-201F-0EB4-8C33-5CAE3BAA5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B26E34-EAF5-A178-7F60-1106D7395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67C21DB-2A00-52A9-26E3-F17EB2462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6497" y="1024416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6C8476-687D-E9B3-52FF-FDDEB0FF3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92861" y="2382940"/>
            <a:ext cx="3892448" cy="3235128"/>
            <a:chOff x="7792861" y="1860738"/>
            <a:chExt cx="3892448" cy="3235128"/>
          </a:xfrm>
        </p:grpSpPr>
        <p:sp>
          <p:nvSpPr>
            <p:cNvPr id="11" name="TextBox 47">
              <a:extLst>
                <a:ext uri="{FF2B5EF4-FFF2-40B4-BE49-F238E27FC236}">
                  <a16:creationId xmlns:a16="http://schemas.microsoft.com/office/drawing/2014/main" id="{CB48F200-206E-E51C-0ED9-BAAFD42CA740}"/>
                </a:ext>
              </a:extLst>
            </p:cNvPr>
            <p:cNvSpPr txBox="1"/>
            <p:nvPr/>
          </p:nvSpPr>
          <p:spPr>
            <a:xfrm>
              <a:off x="7792861" y="1954808"/>
              <a:ext cx="3892448" cy="3046988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chemeClr val="bg1"/>
                  </a:solidFill>
                </a:rPr>
                <a:t>Key Insights:</a:t>
              </a:r>
              <a:endParaRPr lang="en-US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Terrorism was relatively stable from 1970 to 2000.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Major Finding:</a:t>
              </a:r>
              <a:r>
                <a:rPr lang="en-US" dirty="0">
                  <a:solidFill>
                    <a:schemeClr val="bg1"/>
                  </a:solidFill>
                </a:rPr>
                <a:t> A sharp, exponential rise in attacks began around 2010–2012.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Context:</a:t>
              </a:r>
              <a:r>
                <a:rPr lang="en-US" dirty="0">
                  <a:solidFill>
                    <a:schemeClr val="bg1"/>
                  </a:solidFill>
                </a:rPr>
                <a:t> This surge correlates with regional destabilization in the Middle East (Arab Spring, rise of ISIS) and conflicts in South Asia.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A6FD986-235A-0E2D-3824-8C144869A909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DE5AD1F-2646-1EAD-476E-2BAA2479EF92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69C01-371A-6B5D-66D3-AA28D373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5C6A-D2DC-1A91-6B92-9936B59C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"Where" – Geospatial Hotspots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5CF1-001F-77C1-C333-6DA12CF4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F0E46-FE3B-263C-1D84-530EF9FDD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12A6D3-D07C-CD3A-00F4-0B812F4F5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6CB2C6-47E5-571D-CA57-2370C958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6497" y="1024416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9AB52-C0D9-29F7-5288-B2B0477C7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00208" y="2338512"/>
            <a:ext cx="4350823" cy="3287036"/>
            <a:chOff x="7792861" y="1816310"/>
            <a:chExt cx="3892448" cy="3323987"/>
          </a:xfrm>
        </p:grpSpPr>
        <p:sp>
          <p:nvSpPr>
            <p:cNvPr id="11" name="TextBox 47">
              <a:extLst>
                <a:ext uri="{FF2B5EF4-FFF2-40B4-BE49-F238E27FC236}">
                  <a16:creationId xmlns:a16="http://schemas.microsoft.com/office/drawing/2014/main" id="{E795E68F-AC34-FACF-E7E3-6AE94EECE403}"/>
                </a:ext>
              </a:extLst>
            </p:cNvPr>
            <p:cNvSpPr txBox="1"/>
            <p:nvPr/>
          </p:nvSpPr>
          <p:spPr>
            <a:xfrm>
              <a:off x="7792861" y="1816310"/>
              <a:ext cx="3892448" cy="332398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chemeClr val="bg1"/>
                  </a:solidFill>
                </a:rPr>
                <a:t>Key Insights: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Terrorism is not evenly distributed; it is highly concentrated in specific "hotspots.“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Dominant Regions:</a:t>
              </a:r>
              <a:r>
                <a:rPr lang="en-US" dirty="0">
                  <a:solidFill>
                    <a:schemeClr val="bg1"/>
                  </a:solidFill>
                </a:rPr>
                <a:t> Middle East &amp; North Africa (MENA) and South Asia account for the majority of incidents.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Contrast:</a:t>
              </a:r>
              <a:r>
                <a:rPr lang="en-US" dirty="0">
                  <a:solidFill>
                    <a:schemeClr val="bg1"/>
                  </a:solidFill>
                </a:rPr>
                <a:t> North America and Western Europe see comparatively lower frequency, despite high media attention.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FA182A5-19CC-5F23-7540-9A6ED93DA996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E30933-BB42-0001-A99E-27EF8AFA3D0A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824C028-0662-9C64-5DF2-E41EA5841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88" y="1166920"/>
            <a:ext cx="4275118" cy="2680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4A334D-93E6-9206-0E54-A0C258560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13" y="3990108"/>
            <a:ext cx="5308726" cy="253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1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D04E-1A31-1B89-47EC-4BEF6A87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E231-9904-0730-B710-B426046C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"Who" – Major Perpetrators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36D79-24D1-5339-2221-AEA6BA75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03F999-B01E-D695-2896-BC05274D8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06BBEF-6E5B-D551-46D3-D204816E7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238EB6B-CDBE-670F-D2C3-D9388BDB9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6497" y="1024416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D472BB-CA6B-4103-9D04-923ABC573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00208" y="2396459"/>
            <a:ext cx="4350823" cy="3161193"/>
            <a:chOff x="7792861" y="1860738"/>
            <a:chExt cx="3892448" cy="3235128"/>
          </a:xfrm>
        </p:grpSpPr>
        <p:sp>
          <p:nvSpPr>
            <p:cNvPr id="11" name="TextBox 47">
              <a:extLst>
                <a:ext uri="{FF2B5EF4-FFF2-40B4-BE49-F238E27FC236}">
                  <a16:creationId xmlns:a16="http://schemas.microsoft.com/office/drawing/2014/main" id="{777E8370-DF41-63F6-FEF6-9CE96DD0D069}"/>
                </a:ext>
              </a:extLst>
            </p:cNvPr>
            <p:cNvSpPr txBox="1"/>
            <p:nvPr/>
          </p:nvSpPr>
          <p:spPr>
            <a:xfrm>
              <a:off x="7792861" y="2416422"/>
              <a:ext cx="3892448" cy="212376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chemeClr val="bg1"/>
                  </a:solidFill>
                </a:rPr>
                <a:t>Key Insights: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Top Groups:</a:t>
              </a:r>
              <a:r>
                <a:rPr lang="en-US" dirty="0">
                  <a:solidFill>
                    <a:schemeClr val="bg1"/>
                  </a:solidFill>
                </a:rPr>
                <a:t> When excluding "Unknown" actors, the </a:t>
              </a:r>
              <a:r>
                <a:rPr lang="en-US" b="1" dirty="0">
                  <a:solidFill>
                    <a:schemeClr val="bg1"/>
                  </a:solidFill>
                </a:rPr>
                <a:t>Taliban</a:t>
              </a:r>
              <a:r>
                <a:rPr lang="en-US" dirty="0">
                  <a:solidFill>
                    <a:schemeClr val="bg1"/>
                  </a:solidFill>
                </a:rPr>
                <a:t> and </a:t>
              </a:r>
              <a:r>
                <a:rPr lang="en-US" b="1" dirty="0">
                  <a:solidFill>
                    <a:schemeClr val="bg1"/>
                  </a:solidFill>
                </a:rPr>
                <a:t>ISIL (Islamic State)</a:t>
              </a:r>
              <a:r>
                <a:rPr lang="en-US" dirty="0">
                  <a:solidFill>
                    <a:schemeClr val="bg1"/>
                  </a:solidFill>
                </a:rPr>
                <a:t> are the most active groups historically.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Historical Shift:</a:t>
              </a:r>
              <a:r>
                <a:rPr lang="en-US" dirty="0">
                  <a:solidFill>
                    <a:schemeClr val="bg1"/>
                  </a:solidFill>
                </a:rPr>
                <a:t> The data reflects a transition from political/revolutionary groups (e.g., Shining Path in the 80s) to religious extremist groups in the modern era.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E558CD8-ED8F-81C3-A89D-1696AB94089F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C2A9A9B-C15A-3865-2139-43272D6C7F9B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1F087CD-91E9-5037-EF80-F3CB18831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1" y="1612075"/>
            <a:ext cx="7029250" cy="36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6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CAC3-B921-1CA4-0893-C7E8D0CD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4657-3083-4588-B8F8-4931950F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"How" – Tactics &amp; Targets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EDC57-4905-4879-4F07-676E03F0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3A92E-417D-2E60-9D23-8687DB03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91C11F-E69E-FA9E-0441-333B0AAA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4075E5-46CF-7E7C-3979-1AE43DC0F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6497" y="1024416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B7BB55-721D-3D51-5DE6-FFE3ED08B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00208" y="2315065"/>
            <a:ext cx="4350823" cy="3753226"/>
            <a:chOff x="7792861" y="1777440"/>
            <a:chExt cx="3892448" cy="3401729"/>
          </a:xfrm>
        </p:grpSpPr>
        <p:sp>
          <p:nvSpPr>
            <p:cNvPr id="11" name="TextBox 47">
              <a:extLst>
                <a:ext uri="{FF2B5EF4-FFF2-40B4-BE49-F238E27FC236}">
                  <a16:creationId xmlns:a16="http://schemas.microsoft.com/office/drawing/2014/main" id="{DEE6DDA0-9D22-7646-1E0D-4C9AEC1C98CB}"/>
                </a:ext>
              </a:extLst>
            </p:cNvPr>
            <p:cNvSpPr txBox="1"/>
            <p:nvPr/>
          </p:nvSpPr>
          <p:spPr>
            <a:xfrm>
              <a:off x="7792861" y="1777440"/>
              <a:ext cx="3892448" cy="3401729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chemeClr val="bg1"/>
                  </a:solidFill>
                </a:rPr>
                <a:t>Key Insights: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Preferred Method:</a:t>
              </a:r>
              <a:r>
                <a:rPr lang="en-US" dirty="0">
                  <a:solidFill>
                    <a:schemeClr val="bg1"/>
                  </a:solidFill>
                </a:rPr>
                <a:t> "Bombing/Explosion" is the most common tactic (likely due to IED usage).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Primary Targets:</a:t>
              </a:r>
              <a:r>
                <a:rPr lang="en-US" dirty="0">
                  <a:solidFill>
                    <a:schemeClr val="bg1"/>
                  </a:solidFill>
                </a:rPr>
                <a:t> Private Citizens &amp; Property are the #1 target, consistently higher than Military or Government targets.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Conclusion:</a:t>
              </a:r>
              <a:r>
                <a:rPr lang="en-US" dirty="0">
                  <a:solidFill>
                    <a:schemeClr val="bg1"/>
                  </a:solidFill>
                </a:rPr>
                <a:t> Modern terrorism disproportionately affects soft targets (civilians).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E39A26-896E-4E28-E8D4-C739BA8BC8D6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81344F-8B80-B3D6-71E2-66F7CC00FD00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1791017-DE05-BDFD-CC84-24C243EC4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84" y="1258783"/>
            <a:ext cx="6543303" cy="24700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DCF91A-0B47-02C2-1E85-0F7679AF3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84" y="3728852"/>
            <a:ext cx="6543303" cy="281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1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1F3B-F2CE-7127-2DD3-A059BDBD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6CAC-54A6-2715-53DC-5BC2B9E3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Impact Analysis – Lethality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3F3F4-A8F5-A02B-6709-F8D43F4B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F9EBC3-A75F-CB5D-8512-65A0A6128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443E9-D7B4-D47A-22FB-3FFE81614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1024416"/>
            <a:ext cx="4905830" cy="5833584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21F14-3EED-06AA-A747-780C078E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6497" y="1024416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44200C-BB8D-C873-7AFC-ABB5B4A55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00208" y="2406970"/>
            <a:ext cx="4350823" cy="3569410"/>
            <a:chOff x="7792861" y="1860738"/>
            <a:chExt cx="3892448" cy="3235128"/>
          </a:xfrm>
        </p:grpSpPr>
        <p:sp>
          <p:nvSpPr>
            <p:cNvPr id="11" name="TextBox 47">
              <a:extLst>
                <a:ext uri="{FF2B5EF4-FFF2-40B4-BE49-F238E27FC236}">
                  <a16:creationId xmlns:a16="http://schemas.microsoft.com/office/drawing/2014/main" id="{2DA587D5-2FF6-1399-0E24-E12298AE3CB0}"/>
                </a:ext>
              </a:extLst>
            </p:cNvPr>
            <p:cNvSpPr txBox="1"/>
            <p:nvPr/>
          </p:nvSpPr>
          <p:spPr>
            <a:xfrm>
              <a:off x="7792861" y="2348546"/>
              <a:ext cx="3892448" cy="225951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chemeClr val="bg1"/>
                  </a:solidFill>
                </a:rPr>
                <a:t>Key Insights: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Lethality Driver:</a:t>
              </a:r>
              <a:r>
                <a:rPr lang="en-US" dirty="0">
                  <a:solidFill>
                    <a:schemeClr val="bg1"/>
                  </a:solidFill>
                </a:rPr>
                <a:t> Suicide attacks are statistically more lethal than non-suicide attacks.</a:t>
              </a:r>
              <a:endParaRPr lang="en-US" b="1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Data:</a:t>
              </a:r>
              <a:r>
                <a:rPr lang="en-US" dirty="0">
                  <a:solidFill>
                    <a:schemeClr val="bg1"/>
                  </a:solidFill>
                </a:rPr>
                <a:t> The median casualty count for suicide missions is significantly higher.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Implication:</a:t>
              </a:r>
              <a:r>
                <a:rPr lang="en-US" dirty="0">
                  <a:solidFill>
                    <a:schemeClr val="bg1"/>
                  </a:solidFill>
                </a:rPr>
                <a:t> Suicide tactics allow attackers to infiltrate denser crowds, maximizing the "success" of their casualty goals.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B4A5DEF-7390-4FE1-7FF7-486898BDE419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D93BB4F-7694-9CFD-5E90-F8AFEBB21EAD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515A43D-4CB9-E962-7663-F37F9F878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60665"/>
            <a:ext cx="6247658" cy="476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6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91974D-94F5-468A-87AC-B7EFF95696CC}"/>
              </a:ext>
            </a:extLst>
          </p:cNvPr>
          <p:cNvSpPr/>
          <p:nvPr/>
        </p:nvSpPr>
        <p:spPr>
          <a:xfrm>
            <a:off x="0" y="1116246"/>
            <a:ext cx="12192000" cy="529590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dirty="0"/>
              <a:t>Upcoming Deposits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8AD67-5AA4-441A-BB82-472C2884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</a:t>
            </a:r>
            <a:r>
              <a:rPr lang="en-GB" dirty="0" err="1"/>
              <a:t>Streamlit</a:t>
            </a:r>
            <a:r>
              <a:rPr lang="en-GB" dirty="0"/>
              <a:t> Dashboard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CA378-A42F-4D9C-A19A-0115D50F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2" name="Group 11" descr="This is an icon of coins.">
            <a:extLst>
              <a:ext uri="{FF2B5EF4-FFF2-40B4-BE49-F238E27FC236}">
                <a16:creationId xmlns:a16="http://schemas.microsoft.com/office/drawing/2014/main" id="{75301E57-A6A4-4748-B362-9BA17072ED18}"/>
              </a:ext>
            </a:extLst>
          </p:cNvPr>
          <p:cNvGrpSpPr/>
          <p:nvPr/>
        </p:nvGrpSpPr>
        <p:grpSpPr>
          <a:xfrm>
            <a:off x="1870641" y="1439094"/>
            <a:ext cx="287338" cy="263526"/>
            <a:chOff x="3171825" y="1368425"/>
            <a:chExt cx="287338" cy="263526"/>
          </a:xfrm>
          <a:solidFill>
            <a:schemeClr val="bg1"/>
          </a:solidFill>
        </p:grpSpPr>
        <p:sp>
          <p:nvSpPr>
            <p:cNvPr id="13" name="Freeform 466">
              <a:extLst>
                <a:ext uri="{FF2B5EF4-FFF2-40B4-BE49-F238E27FC236}">
                  <a16:creationId xmlns:a16="http://schemas.microsoft.com/office/drawing/2014/main" id="{385D5C6F-FE82-4E8C-8542-1BECD761D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598613"/>
              <a:ext cx="49213" cy="33338"/>
            </a:xfrm>
            <a:custGeom>
              <a:avLst/>
              <a:gdLst>
                <a:gd name="T0" fmla="*/ 0 w 151"/>
                <a:gd name="T1" fmla="*/ 0 h 106"/>
                <a:gd name="T2" fmla="*/ 0 w 151"/>
                <a:gd name="T3" fmla="*/ 106 h 106"/>
                <a:gd name="T4" fmla="*/ 151 w 151"/>
                <a:gd name="T5" fmla="*/ 106 h 106"/>
                <a:gd name="T6" fmla="*/ 151 w 151"/>
                <a:gd name="T7" fmla="*/ 0 h 106"/>
                <a:gd name="T8" fmla="*/ 136 w 151"/>
                <a:gd name="T9" fmla="*/ 0 h 106"/>
                <a:gd name="T10" fmla="*/ 0 w 151"/>
                <a:gd name="T1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6">
                  <a:moveTo>
                    <a:pt x="0" y="0"/>
                  </a:moveTo>
                  <a:lnTo>
                    <a:pt x="0" y="106"/>
                  </a:lnTo>
                  <a:lnTo>
                    <a:pt x="151" y="106"/>
                  </a:lnTo>
                  <a:lnTo>
                    <a:pt x="151" y="0"/>
                  </a:lnTo>
                  <a:lnTo>
                    <a:pt x="1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467">
              <a:extLst>
                <a:ext uri="{FF2B5EF4-FFF2-40B4-BE49-F238E27FC236}">
                  <a16:creationId xmlns:a16="http://schemas.microsoft.com/office/drawing/2014/main" id="{3F4AD88D-507E-4EB6-B578-88060D4CF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598613"/>
              <a:ext cx="28575" cy="33338"/>
            </a:xfrm>
            <a:custGeom>
              <a:avLst/>
              <a:gdLst>
                <a:gd name="T0" fmla="*/ 75 w 90"/>
                <a:gd name="T1" fmla="*/ 0 h 106"/>
                <a:gd name="T2" fmla="*/ 0 w 90"/>
                <a:gd name="T3" fmla="*/ 0 h 106"/>
                <a:gd name="T4" fmla="*/ 0 w 90"/>
                <a:gd name="T5" fmla="*/ 106 h 106"/>
                <a:gd name="T6" fmla="*/ 75 w 90"/>
                <a:gd name="T7" fmla="*/ 106 h 106"/>
                <a:gd name="T8" fmla="*/ 78 w 90"/>
                <a:gd name="T9" fmla="*/ 106 h 106"/>
                <a:gd name="T10" fmla="*/ 80 w 90"/>
                <a:gd name="T11" fmla="*/ 104 h 106"/>
                <a:gd name="T12" fmla="*/ 84 w 90"/>
                <a:gd name="T13" fmla="*/ 103 h 106"/>
                <a:gd name="T14" fmla="*/ 86 w 90"/>
                <a:gd name="T15" fmla="*/ 101 h 106"/>
                <a:gd name="T16" fmla="*/ 88 w 90"/>
                <a:gd name="T17" fmla="*/ 99 h 106"/>
                <a:gd name="T18" fmla="*/ 89 w 90"/>
                <a:gd name="T19" fmla="*/ 97 h 106"/>
                <a:gd name="T20" fmla="*/ 90 w 90"/>
                <a:gd name="T21" fmla="*/ 94 h 106"/>
                <a:gd name="T22" fmla="*/ 90 w 90"/>
                <a:gd name="T23" fmla="*/ 91 h 106"/>
                <a:gd name="T24" fmla="*/ 90 w 90"/>
                <a:gd name="T25" fmla="*/ 15 h 106"/>
                <a:gd name="T26" fmla="*/ 90 w 90"/>
                <a:gd name="T27" fmla="*/ 12 h 106"/>
                <a:gd name="T28" fmla="*/ 89 w 90"/>
                <a:gd name="T29" fmla="*/ 10 h 106"/>
                <a:gd name="T30" fmla="*/ 88 w 90"/>
                <a:gd name="T31" fmla="*/ 7 h 106"/>
                <a:gd name="T32" fmla="*/ 86 w 90"/>
                <a:gd name="T33" fmla="*/ 5 h 106"/>
                <a:gd name="T34" fmla="*/ 84 w 90"/>
                <a:gd name="T35" fmla="*/ 4 h 106"/>
                <a:gd name="T36" fmla="*/ 80 w 90"/>
                <a:gd name="T37" fmla="*/ 2 h 106"/>
                <a:gd name="T38" fmla="*/ 78 w 90"/>
                <a:gd name="T39" fmla="*/ 2 h 106"/>
                <a:gd name="T40" fmla="*/ 75 w 90"/>
                <a:gd name="T41" fmla="*/ 0 h 106"/>
                <a:gd name="T42" fmla="*/ 75 w 90"/>
                <a:gd name="T43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6">
                  <a:moveTo>
                    <a:pt x="75" y="0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75" y="106"/>
                  </a:lnTo>
                  <a:lnTo>
                    <a:pt x="78" y="106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0" y="94"/>
                  </a:lnTo>
                  <a:lnTo>
                    <a:pt x="90" y="91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468">
              <a:extLst>
                <a:ext uri="{FF2B5EF4-FFF2-40B4-BE49-F238E27FC236}">
                  <a16:creationId xmlns:a16="http://schemas.microsoft.com/office/drawing/2014/main" id="{25BE5FD6-A410-4824-9697-31FCF7983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598613"/>
              <a:ext cx="28575" cy="33338"/>
            </a:xfrm>
            <a:custGeom>
              <a:avLst/>
              <a:gdLst>
                <a:gd name="T0" fmla="*/ 15 w 90"/>
                <a:gd name="T1" fmla="*/ 0 h 106"/>
                <a:gd name="T2" fmla="*/ 11 w 90"/>
                <a:gd name="T3" fmla="*/ 0 h 106"/>
                <a:gd name="T4" fmla="*/ 9 w 90"/>
                <a:gd name="T5" fmla="*/ 2 h 106"/>
                <a:gd name="T6" fmla="*/ 6 w 90"/>
                <a:gd name="T7" fmla="*/ 4 h 106"/>
                <a:gd name="T8" fmla="*/ 4 w 90"/>
                <a:gd name="T9" fmla="*/ 5 h 106"/>
                <a:gd name="T10" fmla="*/ 3 w 90"/>
                <a:gd name="T11" fmla="*/ 7 h 106"/>
                <a:gd name="T12" fmla="*/ 1 w 90"/>
                <a:gd name="T13" fmla="*/ 10 h 106"/>
                <a:gd name="T14" fmla="*/ 0 w 90"/>
                <a:gd name="T15" fmla="*/ 12 h 106"/>
                <a:gd name="T16" fmla="*/ 0 w 90"/>
                <a:gd name="T17" fmla="*/ 15 h 106"/>
                <a:gd name="T18" fmla="*/ 0 w 90"/>
                <a:gd name="T19" fmla="*/ 91 h 106"/>
                <a:gd name="T20" fmla="*/ 0 w 90"/>
                <a:gd name="T21" fmla="*/ 94 h 106"/>
                <a:gd name="T22" fmla="*/ 1 w 90"/>
                <a:gd name="T23" fmla="*/ 97 h 106"/>
                <a:gd name="T24" fmla="*/ 3 w 90"/>
                <a:gd name="T25" fmla="*/ 99 h 106"/>
                <a:gd name="T26" fmla="*/ 4 w 90"/>
                <a:gd name="T27" fmla="*/ 101 h 106"/>
                <a:gd name="T28" fmla="*/ 6 w 90"/>
                <a:gd name="T29" fmla="*/ 103 h 106"/>
                <a:gd name="T30" fmla="*/ 9 w 90"/>
                <a:gd name="T31" fmla="*/ 104 h 106"/>
                <a:gd name="T32" fmla="*/ 11 w 90"/>
                <a:gd name="T33" fmla="*/ 106 h 106"/>
                <a:gd name="T34" fmla="*/ 15 w 90"/>
                <a:gd name="T35" fmla="*/ 106 h 106"/>
                <a:gd name="T36" fmla="*/ 90 w 90"/>
                <a:gd name="T37" fmla="*/ 106 h 106"/>
                <a:gd name="T38" fmla="*/ 90 w 90"/>
                <a:gd name="T39" fmla="*/ 0 h 106"/>
                <a:gd name="T40" fmla="*/ 75 w 90"/>
                <a:gd name="T41" fmla="*/ 0 h 106"/>
                <a:gd name="T42" fmla="*/ 15 w 90"/>
                <a:gd name="T43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6">
                  <a:moveTo>
                    <a:pt x="15" y="0"/>
                  </a:moveTo>
                  <a:lnTo>
                    <a:pt x="11" y="0"/>
                  </a:lnTo>
                  <a:lnTo>
                    <a:pt x="9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1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6"/>
                  </a:lnTo>
                  <a:lnTo>
                    <a:pt x="15" y="106"/>
                  </a:lnTo>
                  <a:lnTo>
                    <a:pt x="90" y="106"/>
                  </a:lnTo>
                  <a:lnTo>
                    <a:pt x="90" y="0"/>
                  </a:lnTo>
                  <a:lnTo>
                    <a:pt x="7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469">
              <a:extLst>
                <a:ext uri="{FF2B5EF4-FFF2-40B4-BE49-F238E27FC236}">
                  <a16:creationId xmlns:a16="http://schemas.microsoft.com/office/drawing/2014/main" id="{70C956FB-1840-44F1-8377-516D0A87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522413"/>
              <a:ext cx="49213" cy="33338"/>
            </a:xfrm>
            <a:custGeom>
              <a:avLst/>
              <a:gdLst>
                <a:gd name="T0" fmla="*/ 151 w 151"/>
                <a:gd name="T1" fmla="*/ 105 h 105"/>
                <a:gd name="T2" fmla="*/ 151 w 151"/>
                <a:gd name="T3" fmla="*/ 0 h 105"/>
                <a:gd name="T4" fmla="*/ 136 w 151"/>
                <a:gd name="T5" fmla="*/ 0 h 105"/>
                <a:gd name="T6" fmla="*/ 0 w 151"/>
                <a:gd name="T7" fmla="*/ 0 h 105"/>
                <a:gd name="T8" fmla="*/ 0 w 151"/>
                <a:gd name="T9" fmla="*/ 105 h 105"/>
                <a:gd name="T10" fmla="*/ 136 w 151"/>
                <a:gd name="T11" fmla="*/ 105 h 105"/>
                <a:gd name="T12" fmla="*/ 151 w 151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105"/>
                  </a:moveTo>
                  <a:lnTo>
                    <a:pt x="151" y="0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36" y="105"/>
                  </a:lnTo>
                  <a:lnTo>
                    <a:pt x="15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470">
              <a:extLst>
                <a:ext uri="{FF2B5EF4-FFF2-40B4-BE49-F238E27FC236}">
                  <a16:creationId xmlns:a16="http://schemas.microsoft.com/office/drawing/2014/main" id="{31F34C55-620E-437B-84B4-9120D2B17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522413"/>
              <a:ext cx="28575" cy="33338"/>
            </a:xfrm>
            <a:custGeom>
              <a:avLst/>
              <a:gdLst>
                <a:gd name="T0" fmla="*/ 15 w 90"/>
                <a:gd name="T1" fmla="*/ 0 h 105"/>
                <a:gd name="T2" fmla="*/ 11 w 90"/>
                <a:gd name="T3" fmla="*/ 0 h 105"/>
                <a:gd name="T4" fmla="*/ 9 w 90"/>
                <a:gd name="T5" fmla="*/ 1 h 105"/>
                <a:gd name="T6" fmla="*/ 6 w 90"/>
                <a:gd name="T7" fmla="*/ 2 h 105"/>
                <a:gd name="T8" fmla="*/ 4 w 90"/>
                <a:gd name="T9" fmla="*/ 4 h 105"/>
                <a:gd name="T10" fmla="*/ 3 w 90"/>
                <a:gd name="T11" fmla="*/ 7 h 105"/>
                <a:gd name="T12" fmla="*/ 1 w 90"/>
                <a:gd name="T13" fmla="*/ 9 h 105"/>
                <a:gd name="T14" fmla="*/ 0 w 90"/>
                <a:gd name="T15" fmla="*/ 12 h 105"/>
                <a:gd name="T16" fmla="*/ 0 w 90"/>
                <a:gd name="T17" fmla="*/ 15 h 105"/>
                <a:gd name="T18" fmla="*/ 0 w 90"/>
                <a:gd name="T19" fmla="*/ 90 h 105"/>
                <a:gd name="T20" fmla="*/ 0 w 90"/>
                <a:gd name="T21" fmla="*/ 93 h 105"/>
                <a:gd name="T22" fmla="*/ 1 w 90"/>
                <a:gd name="T23" fmla="*/ 96 h 105"/>
                <a:gd name="T24" fmla="*/ 3 w 90"/>
                <a:gd name="T25" fmla="*/ 99 h 105"/>
                <a:gd name="T26" fmla="*/ 4 w 90"/>
                <a:gd name="T27" fmla="*/ 101 h 105"/>
                <a:gd name="T28" fmla="*/ 6 w 90"/>
                <a:gd name="T29" fmla="*/ 102 h 105"/>
                <a:gd name="T30" fmla="*/ 9 w 90"/>
                <a:gd name="T31" fmla="*/ 104 h 105"/>
                <a:gd name="T32" fmla="*/ 11 w 90"/>
                <a:gd name="T33" fmla="*/ 105 h 105"/>
                <a:gd name="T34" fmla="*/ 15 w 90"/>
                <a:gd name="T35" fmla="*/ 105 h 105"/>
                <a:gd name="T36" fmla="*/ 75 w 90"/>
                <a:gd name="T37" fmla="*/ 105 h 105"/>
                <a:gd name="T38" fmla="*/ 90 w 90"/>
                <a:gd name="T39" fmla="*/ 105 h 105"/>
                <a:gd name="T40" fmla="*/ 90 w 90"/>
                <a:gd name="T41" fmla="*/ 0 h 105"/>
                <a:gd name="T42" fmla="*/ 75 w 90"/>
                <a:gd name="T43" fmla="*/ 0 h 105"/>
                <a:gd name="T44" fmla="*/ 15 w 90"/>
                <a:gd name="T4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5">
                  <a:moveTo>
                    <a:pt x="15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2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75" y="105"/>
                  </a:lnTo>
                  <a:lnTo>
                    <a:pt x="90" y="105"/>
                  </a:lnTo>
                  <a:lnTo>
                    <a:pt x="90" y="0"/>
                  </a:lnTo>
                  <a:lnTo>
                    <a:pt x="7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471">
              <a:extLst>
                <a:ext uri="{FF2B5EF4-FFF2-40B4-BE49-F238E27FC236}">
                  <a16:creationId xmlns:a16="http://schemas.microsoft.com/office/drawing/2014/main" id="{18397A4D-BBCC-464A-A388-9BDBF3FBC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522413"/>
              <a:ext cx="28575" cy="33338"/>
            </a:xfrm>
            <a:custGeom>
              <a:avLst/>
              <a:gdLst>
                <a:gd name="T0" fmla="*/ 75 w 90"/>
                <a:gd name="T1" fmla="*/ 0 h 105"/>
                <a:gd name="T2" fmla="*/ 0 w 90"/>
                <a:gd name="T3" fmla="*/ 0 h 105"/>
                <a:gd name="T4" fmla="*/ 0 w 90"/>
                <a:gd name="T5" fmla="*/ 105 h 105"/>
                <a:gd name="T6" fmla="*/ 75 w 90"/>
                <a:gd name="T7" fmla="*/ 105 h 105"/>
                <a:gd name="T8" fmla="*/ 78 w 90"/>
                <a:gd name="T9" fmla="*/ 105 h 105"/>
                <a:gd name="T10" fmla="*/ 80 w 90"/>
                <a:gd name="T11" fmla="*/ 104 h 105"/>
                <a:gd name="T12" fmla="*/ 84 w 90"/>
                <a:gd name="T13" fmla="*/ 102 h 105"/>
                <a:gd name="T14" fmla="*/ 86 w 90"/>
                <a:gd name="T15" fmla="*/ 101 h 105"/>
                <a:gd name="T16" fmla="*/ 88 w 90"/>
                <a:gd name="T17" fmla="*/ 99 h 105"/>
                <a:gd name="T18" fmla="*/ 89 w 90"/>
                <a:gd name="T19" fmla="*/ 96 h 105"/>
                <a:gd name="T20" fmla="*/ 90 w 90"/>
                <a:gd name="T21" fmla="*/ 93 h 105"/>
                <a:gd name="T22" fmla="*/ 90 w 90"/>
                <a:gd name="T23" fmla="*/ 90 h 105"/>
                <a:gd name="T24" fmla="*/ 90 w 90"/>
                <a:gd name="T25" fmla="*/ 15 h 105"/>
                <a:gd name="T26" fmla="*/ 90 w 90"/>
                <a:gd name="T27" fmla="*/ 12 h 105"/>
                <a:gd name="T28" fmla="*/ 89 w 90"/>
                <a:gd name="T29" fmla="*/ 9 h 105"/>
                <a:gd name="T30" fmla="*/ 88 w 90"/>
                <a:gd name="T31" fmla="*/ 7 h 105"/>
                <a:gd name="T32" fmla="*/ 86 w 90"/>
                <a:gd name="T33" fmla="*/ 4 h 105"/>
                <a:gd name="T34" fmla="*/ 84 w 90"/>
                <a:gd name="T35" fmla="*/ 2 h 105"/>
                <a:gd name="T36" fmla="*/ 80 w 90"/>
                <a:gd name="T37" fmla="*/ 1 h 105"/>
                <a:gd name="T38" fmla="*/ 78 w 90"/>
                <a:gd name="T39" fmla="*/ 0 h 105"/>
                <a:gd name="T40" fmla="*/ 75 w 90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75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0" y="104"/>
                  </a:lnTo>
                  <a:lnTo>
                    <a:pt x="84" y="102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472">
              <a:extLst>
                <a:ext uri="{FF2B5EF4-FFF2-40B4-BE49-F238E27FC236}">
                  <a16:creationId xmlns:a16="http://schemas.microsoft.com/office/drawing/2014/main" id="{196FE97D-77A1-4D52-A288-82512B28D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875" y="14462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15 w 90"/>
                <a:gd name="T3" fmla="*/ 0 h 105"/>
                <a:gd name="T4" fmla="*/ 11 w 90"/>
                <a:gd name="T5" fmla="*/ 0 h 105"/>
                <a:gd name="T6" fmla="*/ 9 w 90"/>
                <a:gd name="T7" fmla="*/ 1 h 105"/>
                <a:gd name="T8" fmla="*/ 6 w 90"/>
                <a:gd name="T9" fmla="*/ 2 h 105"/>
                <a:gd name="T10" fmla="*/ 4 w 90"/>
                <a:gd name="T11" fmla="*/ 4 h 105"/>
                <a:gd name="T12" fmla="*/ 3 w 90"/>
                <a:gd name="T13" fmla="*/ 6 h 105"/>
                <a:gd name="T14" fmla="*/ 1 w 90"/>
                <a:gd name="T15" fmla="*/ 9 h 105"/>
                <a:gd name="T16" fmla="*/ 0 w 90"/>
                <a:gd name="T17" fmla="*/ 12 h 105"/>
                <a:gd name="T18" fmla="*/ 0 w 90"/>
                <a:gd name="T19" fmla="*/ 15 h 105"/>
                <a:gd name="T20" fmla="*/ 0 w 90"/>
                <a:gd name="T21" fmla="*/ 90 h 105"/>
                <a:gd name="T22" fmla="*/ 0 w 90"/>
                <a:gd name="T23" fmla="*/ 93 h 105"/>
                <a:gd name="T24" fmla="*/ 1 w 90"/>
                <a:gd name="T25" fmla="*/ 96 h 105"/>
                <a:gd name="T26" fmla="*/ 3 w 90"/>
                <a:gd name="T27" fmla="*/ 99 h 105"/>
                <a:gd name="T28" fmla="*/ 4 w 90"/>
                <a:gd name="T29" fmla="*/ 101 h 105"/>
                <a:gd name="T30" fmla="*/ 6 w 90"/>
                <a:gd name="T31" fmla="*/ 103 h 105"/>
                <a:gd name="T32" fmla="*/ 9 w 90"/>
                <a:gd name="T33" fmla="*/ 104 h 105"/>
                <a:gd name="T34" fmla="*/ 11 w 90"/>
                <a:gd name="T35" fmla="*/ 105 h 105"/>
                <a:gd name="T36" fmla="*/ 15 w 90"/>
                <a:gd name="T37" fmla="*/ 105 h 105"/>
                <a:gd name="T38" fmla="*/ 45 w 90"/>
                <a:gd name="T39" fmla="*/ 105 h 105"/>
                <a:gd name="T40" fmla="*/ 90 w 90"/>
                <a:gd name="T41" fmla="*/ 105 h 105"/>
                <a:gd name="T42" fmla="*/ 90 w 90"/>
                <a:gd name="T4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473">
              <a:extLst>
                <a:ext uri="{FF2B5EF4-FFF2-40B4-BE49-F238E27FC236}">
                  <a16:creationId xmlns:a16="http://schemas.microsoft.com/office/drawing/2014/main" id="{AEEC57E4-9646-4A44-BD9D-7456C262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975" y="1446213"/>
              <a:ext cx="49213" cy="33338"/>
            </a:xfrm>
            <a:custGeom>
              <a:avLst/>
              <a:gdLst>
                <a:gd name="T0" fmla="*/ 151 w 151"/>
                <a:gd name="T1" fmla="*/ 0 h 105"/>
                <a:gd name="T2" fmla="*/ 46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106 w 151"/>
                <a:gd name="T9" fmla="*/ 105 h 105"/>
                <a:gd name="T10" fmla="*/ 151 w 151"/>
                <a:gd name="T11" fmla="*/ 105 h 105"/>
                <a:gd name="T12" fmla="*/ 151 w 151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0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06" y="105"/>
                  </a:lnTo>
                  <a:lnTo>
                    <a:pt x="151" y="105"/>
                  </a:lnTo>
                  <a:lnTo>
                    <a:pt x="1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474">
              <a:extLst>
                <a:ext uri="{FF2B5EF4-FFF2-40B4-BE49-F238E27FC236}">
                  <a16:creationId xmlns:a16="http://schemas.microsoft.com/office/drawing/2014/main" id="{3033CFA5-C735-49A7-99D6-6BC7D8DA0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713" y="1446213"/>
              <a:ext cx="28575" cy="33338"/>
            </a:xfrm>
            <a:custGeom>
              <a:avLst/>
              <a:gdLst>
                <a:gd name="T0" fmla="*/ 90 w 90"/>
                <a:gd name="T1" fmla="*/ 15 h 105"/>
                <a:gd name="T2" fmla="*/ 90 w 90"/>
                <a:gd name="T3" fmla="*/ 12 h 105"/>
                <a:gd name="T4" fmla="*/ 89 w 90"/>
                <a:gd name="T5" fmla="*/ 9 h 105"/>
                <a:gd name="T6" fmla="*/ 88 w 90"/>
                <a:gd name="T7" fmla="*/ 6 h 105"/>
                <a:gd name="T8" fmla="*/ 86 w 90"/>
                <a:gd name="T9" fmla="*/ 4 h 105"/>
                <a:gd name="T10" fmla="*/ 84 w 90"/>
                <a:gd name="T11" fmla="*/ 2 h 105"/>
                <a:gd name="T12" fmla="*/ 81 w 90"/>
                <a:gd name="T13" fmla="*/ 1 h 105"/>
                <a:gd name="T14" fmla="*/ 78 w 90"/>
                <a:gd name="T15" fmla="*/ 0 h 105"/>
                <a:gd name="T16" fmla="*/ 75 w 90"/>
                <a:gd name="T17" fmla="*/ 0 h 105"/>
                <a:gd name="T18" fmla="*/ 45 w 90"/>
                <a:gd name="T19" fmla="*/ 0 h 105"/>
                <a:gd name="T20" fmla="*/ 0 w 90"/>
                <a:gd name="T21" fmla="*/ 0 h 105"/>
                <a:gd name="T22" fmla="*/ 0 w 90"/>
                <a:gd name="T23" fmla="*/ 105 h 105"/>
                <a:gd name="T24" fmla="*/ 75 w 90"/>
                <a:gd name="T25" fmla="*/ 105 h 105"/>
                <a:gd name="T26" fmla="*/ 78 w 90"/>
                <a:gd name="T27" fmla="*/ 105 h 105"/>
                <a:gd name="T28" fmla="*/ 81 w 90"/>
                <a:gd name="T29" fmla="*/ 104 h 105"/>
                <a:gd name="T30" fmla="*/ 84 w 90"/>
                <a:gd name="T31" fmla="*/ 103 h 105"/>
                <a:gd name="T32" fmla="*/ 86 w 90"/>
                <a:gd name="T33" fmla="*/ 101 h 105"/>
                <a:gd name="T34" fmla="*/ 88 w 90"/>
                <a:gd name="T35" fmla="*/ 99 h 105"/>
                <a:gd name="T36" fmla="*/ 89 w 90"/>
                <a:gd name="T37" fmla="*/ 96 h 105"/>
                <a:gd name="T38" fmla="*/ 90 w 90"/>
                <a:gd name="T39" fmla="*/ 93 h 105"/>
                <a:gd name="T40" fmla="*/ 90 w 90"/>
                <a:gd name="T41" fmla="*/ 90 h 105"/>
                <a:gd name="T42" fmla="*/ 90 w 90"/>
                <a:gd name="T43" fmla="*/ 1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5">
                  <a:moveTo>
                    <a:pt x="90" y="15"/>
                  </a:moveTo>
                  <a:lnTo>
                    <a:pt x="90" y="12"/>
                  </a:lnTo>
                  <a:lnTo>
                    <a:pt x="89" y="9"/>
                  </a:lnTo>
                  <a:lnTo>
                    <a:pt x="88" y="6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1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1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475">
              <a:extLst>
                <a:ext uri="{FF2B5EF4-FFF2-40B4-BE49-F238E27FC236}">
                  <a16:creationId xmlns:a16="http://schemas.microsoft.com/office/drawing/2014/main" id="{065F74B0-847F-49F5-9074-1CED108D1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408113"/>
              <a:ext cx="30163" cy="33338"/>
            </a:xfrm>
            <a:custGeom>
              <a:avLst/>
              <a:gdLst>
                <a:gd name="T0" fmla="*/ 0 w 91"/>
                <a:gd name="T1" fmla="*/ 90 h 105"/>
                <a:gd name="T2" fmla="*/ 1 w 91"/>
                <a:gd name="T3" fmla="*/ 93 h 105"/>
                <a:gd name="T4" fmla="*/ 1 w 91"/>
                <a:gd name="T5" fmla="*/ 95 h 105"/>
                <a:gd name="T6" fmla="*/ 3 w 91"/>
                <a:gd name="T7" fmla="*/ 98 h 105"/>
                <a:gd name="T8" fmla="*/ 4 w 91"/>
                <a:gd name="T9" fmla="*/ 101 h 105"/>
                <a:gd name="T10" fmla="*/ 7 w 91"/>
                <a:gd name="T11" fmla="*/ 103 h 105"/>
                <a:gd name="T12" fmla="*/ 9 w 91"/>
                <a:gd name="T13" fmla="*/ 104 h 105"/>
                <a:gd name="T14" fmla="*/ 13 w 91"/>
                <a:gd name="T15" fmla="*/ 105 h 105"/>
                <a:gd name="T16" fmla="*/ 15 w 91"/>
                <a:gd name="T17" fmla="*/ 105 h 105"/>
                <a:gd name="T18" fmla="*/ 45 w 91"/>
                <a:gd name="T19" fmla="*/ 105 h 105"/>
                <a:gd name="T20" fmla="*/ 91 w 91"/>
                <a:gd name="T21" fmla="*/ 105 h 105"/>
                <a:gd name="T22" fmla="*/ 91 w 91"/>
                <a:gd name="T23" fmla="*/ 0 h 105"/>
                <a:gd name="T24" fmla="*/ 15 w 91"/>
                <a:gd name="T25" fmla="*/ 0 h 105"/>
                <a:gd name="T26" fmla="*/ 13 w 91"/>
                <a:gd name="T27" fmla="*/ 0 h 105"/>
                <a:gd name="T28" fmla="*/ 9 w 91"/>
                <a:gd name="T29" fmla="*/ 1 h 105"/>
                <a:gd name="T30" fmla="*/ 7 w 91"/>
                <a:gd name="T31" fmla="*/ 2 h 105"/>
                <a:gd name="T32" fmla="*/ 4 w 91"/>
                <a:gd name="T33" fmla="*/ 4 h 105"/>
                <a:gd name="T34" fmla="*/ 3 w 91"/>
                <a:gd name="T35" fmla="*/ 6 h 105"/>
                <a:gd name="T36" fmla="*/ 1 w 91"/>
                <a:gd name="T37" fmla="*/ 8 h 105"/>
                <a:gd name="T38" fmla="*/ 1 w 91"/>
                <a:gd name="T39" fmla="*/ 11 h 105"/>
                <a:gd name="T40" fmla="*/ 0 w 91"/>
                <a:gd name="T41" fmla="*/ 15 h 105"/>
                <a:gd name="T42" fmla="*/ 0 w 91"/>
                <a:gd name="T43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" h="105">
                  <a:moveTo>
                    <a:pt x="0" y="90"/>
                  </a:moveTo>
                  <a:lnTo>
                    <a:pt x="1" y="93"/>
                  </a:lnTo>
                  <a:lnTo>
                    <a:pt x="1" y="95"/>
                  </a:lnTo>
                  <a:lnTo>
                    <a:pt x="3" y="98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9" y="104"/>
                  </a:lnTo>
                  <a:lnTo>
                    <a:pt x="13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1" y="105"/>
                  </a:lnTo>
                  <a:lnTo>
                    <a:pt x="91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476">
              <a:extLst>
                <a:ext uri="{FF2B5EF4-FFF2-40B4-BE49-F238E27FC236}">
                  <a16:creationId xmlns:a16="http://schemas.microsoft.com/office/drawing/2014/main" id="{DB22E8D4-6BB2-4D40-BB88-1C39D4F8E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1408113"/>
              <a:ext cx="47625" cy="33338"/>
            </a:xfrm>
            <a:custGeom>
              <a:avLst/>
              <a:gdLst>
                <a:gd name="T0" fmla="*/ 0 w 150"/>
                <a:gd name="T1" fmla="*/ 105 h 105"/>
                <a:gd name="T2" fmla="*/ 105 w 150"/>
                <a:gd name="T3" fmla="*/ 105 h 105"/>
                <a:gd name="T4" fmla="*/ 150 w 150"/>
                <a:gd name="T5" fmla="*/ 105 h 105"/>
                <a:gd name="T6" fmla="*/ 150 w 150"/>
                <a:gd name="T7" fmla="*/ 0 h 105"/>
                <a:gd name="T8" fmla="*/ 75 w 150"/>
                <a:gd name="T9" fmla="*/ 0 h 105"/>
                <a:gd name="T10" fmla="*/ 0 w 150"/>
                <a:gd name="T11" fmla="*/ 0 h 105"/>
                <a:gd name="T12" fmla="*/ 0 w 150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105">
                  <a:moveTo>
                    <a:pt x="0" y="105"/>
                  </a:moveTo>
                  <a:lnTo>
                    <a:pt x="105" y="105"/>
                  </a:lnTo>
                  <a:lnTo>
                    <a:pt x="150" y="105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478">
              <a:extLst>
                <a:ext uri="{FF2B5EF4-FFF2-40B4-BE49-F238E27FC236}">
                  <a16:creationId xmlns:a16="http://schemas.microsoft.com/office/drawing/2014/main" id="{87F52D03-CB49-4783-A300-614548CAD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763" y="1408113"/>
              <a:ext cx="28575" cy="33338"/>
            </a:xfrm>
            <a:custGeom>
              <a:avLst/>
              <a:gdLst>
                <a:gd name="T0" fmla="*/ 0 w 90"/>
                <a:gd name="T1" fmla="*/ 105 h 105"/>
                <a:gd name="T2" fmla="*/ 75 w 90"/>
                <a:gd name="T3" fmla="*/ 105 h 105"/>
                <a:gd name="T4" fmla="*/ 78 w 90"/>
                <a:gd name="T5" fmla="*/ 105 h 105"/>
                <a:gd name="T6" fmla="*/ 82 w 90"/>
                <a:gd name="T7" fmla="*/ 104 h 105"/>
                <a:gd name="T8" fmla="*/ 84 w 90"/>
                <a:gd name="T9" fmla="*/ 103 h 105"/>
                <a:gd name="T10" fmla="*/ 86 w 90"/>
                <a:gd name="T11" fmla="*/ 101 h 105"/>
                <a:gd name="T12" fmla="*/ 88 w 90"/>
                <a:gd name="T13" fmla="*/ 98 h 105"/>
                <a:gd name="T14" fmla="*/ 89 w 90"/>
                <a:gd name="T15" fmla="*/ 95 h 105"/>
                <a:gd name="T16" fmla="*/ 90 w 90"/>
                <a:gd name="T17" fmla="*/ 93 h 105"/>
                <a:gd name="T18" fmla="*/ 90 w 90"/>
                <a:gd name="T19" fmla="*/ 90 h 105"/>
                <a:gd name="T20" fmla="*/ 90 w 90"/>
                <a:gd name="T21" fmla="*/ 15 h 105"/>
                <a:gd name="T22" fmla="*/ 90 w 90"/>
                <a:gd name="T23" fmla="*/ 11 h 105"/>
                <a:gd name="T24" fmla="*/ 89 w 90"/>
                <a:gd name="T25" fmla="*/ 8 h 105"/>
                <a:gd name="T26" fmla="*/ 88 w 90"/>
                <a:gd name="T27" fmla="*/ 6 h 105"/>
                <a:gd name="T28" fmla="*/ 86 w 90"/>
                <a:gd name="T29" fmla="*/ 4 h 105"/>
                <a:gd name="T30" fmla="*/ 84 w 90"/>
                <a:gd name="T31" fmla="*/ 2 h 105"/>
                <a:gd name="T32" fmla="*/ 82 w 90"/>
                <a:gd name="T33" fmla="*/ 1 h 105"/>
                <a:gd name="T34" fmla="*/ 78 w 90"/>
                <a:gd name="T35" fmla="*/ 0 h 105"/>
                <a:gd name="T36" fmla="*/ 75 w 90"/>
                <a:gd name="T37" fmla="*/ 0 h 105"/>
                <a:gd name="T38" fmla="*/ 0 w 90"/>
                <a:gd name="T39" fmla="*/ 0 h 105"/>
                <a:gd name="T40" fmla="*/ 0 w 90"/>
                <a:gd name="T41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0" y="105"/>
                  </a:moveTo>
                  <a:lnTo>
                    <a:pt x="75" y="105"/>
                  </a:lnTo>
                  <a:lnTo>
                    <a:pt x="78" y="105"/>
                  </a:lnTo>
                  <a:lnTo>
                    <a:pt x="82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8"/>
                  </a:lnTo>
                  <a:lnTo>
                    <a:pt x="89" y="95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lnTo>
                    <a:pt x="90" y="11"/>
                  </a:lnTo>
                  <a:lnTo>
                    <a:pt x="89" y="8"/>
                  </a:lnTo>
                  <a:lnTo>
                    <a:pt x="88" y="6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2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479">
              <a:extLst>
                <a:ext uri="{FF2B5EF4-FFF2-40B4-BE49-F238E27FC236}">
                  <a16:creationId xmlns:a16="http://schemas.microsoft.com/office/drawing/2014/main" id="{DBADE0C6-806F-47B9-9C52-13B9C417A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1560513"/>
              <a:ext cx="28575" cy="33338"/>
            </a:xfrm>
            <a:custGeom>
              <a:avLst/>
              <a:gdLst>
                <a:gd name="T0" fmla="*/ 90 w 90"/>
                <a:gd name="T1" fmla="*/ 90 h 105"/>
                <a:gd name="T2" fmla="*/ 90 w 90"/>
                <a:gd name="T3" fmla="*/ 15 h 105"/>
                <a:gd name="T4" fmla="*/ 90 w 90"/>
                <a:gd name="T5" fmla="*/ 12 h 105"/>
                <a:gd name="T6" fmla="*/ 89 w 90"/>
                <a:gd name="T7" fmla="*/ 9 h 105"/>
                <a:gd name="T8" fmla="*/ 88 w 90"/>
                <a:gd name="T9" fmla="*/ 7 h 105"/>
                <a:gd name="T10" fmla="*/ 86 w 90"/>
                <a:gd name="T11" fmla="*/ 5 h 105"/>
                <a:gd name="T12" fmla="*/ 84 w 90"/>
                <a:gd name="T13" fmla="*/ 2 h 105"/>
                <a:gd name="T14" fmla="*/ 80 w 90"/>
                <a:gd name="T15" fmla="*/ 1 h 105"/>
                <a:gd name="T16" fmla="*/ 78 w 90"/>
                <a:gd name="T17" fmla="*/ 0 h 105"/>
                <a:gd name="T18" fmla="*/ 75 w 90"/>
                <a:gd name="T19" fmla="*/ 0 h 105"/>
                <a:gd name="T20" fmla="*/ 15 w 90"/>
                <a:gd name="T21" fmla="*/ 0 h 105"/>
                <a:gd name="T22" fmla="*/ 0 w 90"/>
                <a:gd name="T23" fmla="*/ 0 h 105"/>
                <a:gd name="T24" fmla="*/ 0 w 90"/>
                <a:gd name="T25" fmla="*/ 105 h 105"/>
                <a:gd name="T26" fmla="*/ 15 w 90"/>
                <a:gd name="T27" fmla="*/ 105 h 105"/>
                <a:gd name="T28" fmla="*/ 75 w 90"/>
                <a:gd name="T29" fmla="*/ 105 h 105"/>
                <a:gd name="T30" fmla="*/ 78 w 90"/>
                <a:gd name="T31" fmla="*/ 105 h 105"/>
                <a:gd name="T32" fmla="*/ 80 w 90"/>
                <a:gd name="T33" fmla="*/ 104 h 105"/>
                <a:gd name="T34" fmla="*/ 84 w 90"/>
                <a:gd name="T35" fmla="*/ 103 h 105"/>
                <a:gd name="T36" fmla="*/ 86 w 90"/>
                <a:gd name="T37" fmla="*/ 101 h 105"/>
                <a:gd name="T38" fmla="*/ 88 w 90"/>
                <a:gd name="T39" fmla="*/ 99 h 105"/>
                <a:gd name="T40" fmla="*/ 89 w 90"/>
                <a:gd name="T41" fmla="*/ 97 h 105"/>
                <a:gd name="T42" fmla="*/ 90 w 90"/>
                <a:gd name="T43" fmla="*/ 94 h 105"/>
                <a:gd name="T44" fmla="*/ 90 w 90"/>
                <a:gd name="T45" fmla="*/ 90 h 105"/>
                <a:gd name="T46" fmla="*/ 90 w 90"/>
                <a:gd name="T47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105">
                  <a:moveTo>
                    <a:pt x="90" y="90"/>
                  </a:move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5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0" y="94"/>
                  </a:lnTo>
                  <a:lnTo>
                    <a:pt x="90" y="90"/>
                  </a:lnTo>
                  <a:lnTo>
                    <a:pt x="9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480">
              <a:extLst>
                <a:ext uri="{FF2B5EF4-FFF2-40B4-BE49-F238E27FC236}">
                  <a16:creationId xmlns:a16="http://schemas.microsoft.com/office/drawing/2014/main" id="{C8E574A7-2E84-4B27-8D39-E8F428DC1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560513"/>
              <a:ext cx="49213" cy="33338"/>
            </a:xfrm>
            <a:custGeom>
              <a:avLst/>
              <a:gdLst>
                <a:gd name="T0" fmla="*/ 151 w 151"/>
                <a:gd name="T1" fmla="*/ 0 h 105"/>
                <a:gd name="T2" fmla="*/ 15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15 w 151"/>
                <a:gd name="T9" fmla="*/ 105 h 105"/>
                <a:gd name="T10" fmla="*/ 151 w 151"/>
                <a:gd name="T11" fmla="*/ 105 h 105"/>
                <a:gd name="T12" fmla="*/ 151 w 151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0"/>
                  </a:moveTo>
                  <a:lnTo>
                    <a:pt x="1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5" y="105"/>
                  </a:lnTo>
                  <a:lnTo>
                    <a:pt x="151" y="105"/>
                  </a:lnTo>
                  <a:lnTo>
                    <a:pt x="1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481">
              <a:extLst>
                <a:ext uri="{FF2B5EF4-FFF2-40B4-BE49-F238E27FC236}">
                  <a16:creationId xmlns:a16="http://schemas.microsoft.com/office/drawing/2014/main" id="{8B0D6F72-7A5D-4B7E-BC3D-3CDDA28EC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15605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15 w 90"/>
                <a:gd name="T3" fmla="*/ 0 h 105"/>
                <a:gd name="T4" fmla="*/ 11 w 90"/>
                <a:gd name="T5" fmla="*/ 0 h 105"/>
                <a:gd name="T6" fmla="*/ 9 w 90"/>
                <a:gd name="T7" fmla="*/ 1 h 105"/>
                <a:gd name="T8" fmla="*/ 6 w 90"/>
                <a:gd name="T9" fmla="*/ 2 h 105"/>
                <a:gd name="T10" fmla="*/ 4 w 90"/>
                <a:gd name="T11" fmla="*/ 5 h 105"/>
                <a:gd name="T12" fmla="*/ 2 w 90"/>
                <a:gd name="T13" fmla="*/ 7 h 105"/>
                <a:gd name="T14" fmla="*/ 1 w 90"/>
                <a:gd name="T15" fmla="*/ 10 h 105"/>
                <a:gd name="T16" fmla="*/ 0 w 90"/>
                <a:gd name="T17" fmla="*/ 12 h 105"/>
                <a:gd name="T18" fmla="*/ 0 w 90"/>
                <a:gd name="T19" fmla="*/ 15 h 105"/>
                <a:gd name="T20" fmla="*/ 0 w 90"/>
                <a:gd name="T21" fmla="*/ 90 h 105"/>
                <a:gd name="T22" fmla="*/ 0 w 90"/>
                <a:gd name="T23" fmla="*/ 94 h 105"/>
                <a:gd name="T24" fmla="*/ 1 w 90"/>
                <a:gd name="T25" fmla="*/ 97 h 105"/>
                <a:gd name="T26" fmla="*/ 2 w 90"/>
                <a:gd name="T27" fmla="*/ 99 h 105"/>
                <a:gd name="T28" fmla="*/ 4 w 90"/>
                <a:gd name="T29" fmla="*/ 101 h 105"/>
                <a:gd name="T30" fmla="*/ 6 w 90"/>
                <a:gd name="T31" fmla="*/ 103 h 105"/>
                <a:gd name="T32" fmla="*/ 9 w 90"/>
                <a:gd name="T33" fmla="*/ 104 h 105"/>
                <a:gd name="T34" fmla="*/ 11 w 90"/>
                <a:gd name="T35" fmla="*/ 105 h 105"/>
                <a:gd name="T36" fmla="*/ 15 w 90"/>
                <a:gd name="T37" fmla="*/ 105 h 105"/>
                <a:gd name="T38" fmla="*/ 90 w 90"/>
                <a:gd name="T39" fmla="*/ 105 h 105"/>
                <a:gd name="T40" fmla="*/ 90 w 90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482">
              <a:extLst>
                <a:ext uri="{FF2B5EF4-FFF2-40B4-BE49-F238E27FC236}">
                  <a16:creationId xmlns:a16="http://schemas.microsoft.com/office/drawing/2014/main" id="{A018FEA5-42F8-45D6-903D-DEDCEE104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484313"/>
              <a:ext cx="49213" cy="33338"/>
            </a:xfrm>
            <a:custGeom>
              <a:avLst/>
              <a:gdLst>
                <a:gd name="T0" fmla="*/ 151 w 151"/>
                <a:gd name="T1" fmla="*/ 106 h 106"/>
                <a:gd name="T2" fmla="*/ 151 w 151"/>
                <a:gd name="T3" fmla="*/ 0 h 106"/>
                <a:gd name="T4" fmla="*/ 45 w 151"/>
                <a:gd name="T5" fmla="*/ 0 h 106"/>
                <a:gd name="T6" fmla="*/ 0 w 151"/>
                <a:gd name="T7" fmla="*/ 0 h 106"/>
                <a:gd name="T8" fmla="*/ 0 w 151"/>
                <a:gd name="T9" fmla="*/ 106 h 106"/>
                <a:gd name="T10" fmla="*/ 15 w 151"/>
                <a:gd name="T11" fmla="*/ 106 h 106"/>
                <a:gd name="T12" fmla="*/ 151 w 151"/>
                <a:gd name="T13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6">
                  <a:moveTo>
                    <a:pt x="151" y="106"/>
                  </a:moveTo>
                  <a:lnTo>
                    <a:pt x="151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5" y="106"/>
                  </a:lnTo>
                  <a:lnTo>
                    <a:pt x="151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483">
              <a:extLst>
                <a:ext uri="{FF2B5EF4-FFF2-40B4-BE49-F238E27FC236}">
                  <a16:creationId xmlns:a16="http://schemas.microsoft.com/office/drawing/2014/main" id="{9420C61C-BD63-442B-856D-C607C2060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1484313"/>
              <a:ext cx="28575" cy="33338"/>
            </a:xfrm>
            <a:custGeom>
              <a:avLst/>
              <a:gdLst>
                <a:gd name="T0" fmla="*/ 75 w 90"/>
                <a:gd name="T1" fmla="*/ 106 h 106"/>
                <a:gd name="T2" fmla="*/ 78 w 90"/>
                <a:gd name="T3" fmla="*/ 105 h 106"/>
                <a:gd name="T4" fmla="*/ 80 w 90"/>
                <a:gd name="T5" fmla="*/ 104 h 106"/>
                <a:gd name="T6" fmla="*/ 84 w 90"/>
                <a:gd name="T7" fmla="*/ 103 h 106"/>
                <a:gd name="T8" fmla="*/ 86 w 90"/>
                <a:gd name="T9" fmla="*/ 101 h 106"/>
                <a:gd name="T10" fmla="*/ 88 w 90"/>
                <a:gd name="T11" fmla="*/ 99 h 106"/>
                <a:gd name="T12" fmla="*/ 89 w 90"/>
                <a:gd name="T13" fmla="*/ 96 h 106"/>
                <a:gd name="T14" fmla="*/ 90 w 90"/>
                <a:gd name="T15" fmla="*/ 93 h 106"/>
                <a:gd name="T16" fmla="*/ 90 w 90"/>
                <a:gd name="T17" fmla="*/ 91 h 106"/>
                <a:gd name="T18" fmla="*/ 90 w 90"/>
                <a:gd name="T19" fmla="*/ 15 h 106"/>
                <a:gd name="T20" fmla="*/ 90 w 90"/>
                <a:gd name="T21" fmla="*/ 13 h 106"/>
                <a:gd name="T22" fmla="*/ 89 w 90"/>
                <a:gd name="T23" fmla="*/ 10 h 106"/>
                <a:gd name="T24" fmla="*/ 88 w 90"/>
                <a:gd name="T25" fmla="*/ 7 h 106"/>
                <a:gd name="T26" fmla="*/ 86 w 90"/>
                <a:gd name="T27" fmla="*/ 4 h 106"/>
                <a:gd name="T28" fmla="*/ 84 w 90"/>
                <a:gd name="T29" fmla="*/ 3 h 106"/>
                <a:gd name="T30" fmla="*/ 80 w 90"/>
                <a:gd name="T31" fmla="*/ 1 h 106"/>
                <a:gd name="T32" fmla="*/ 78 w 90"/>
                <a:gd name="T33" fmla="*/ 1 h 106"/>
                <a:gd name="T34" fmla="*/ 75 w 90"/>
                <a:gd name="T35" fmla="*/ 0 h 106"/>
                <a:gd name="T36" fmla="*/ 45 w 90"/>
                <a:gd name="T37" fmla="*/ 0 h 106"/>
                <a:gd name="T38" fmla="*/ 0 w 90"/>
                <a:gd name="T39" fmla="*/ 0 h 106"/>
                <a:gd name="T40" fmla="*/ 0 w 90"/>
                <a:gd name="T41" fmla="*/ 106 h 106"/>
                <a:gd name="T42" fmla="*/ 15 w 90"/>
                <a:gd name="T43" fmla="*/ 106 h 106"/>
                <a:gd name="T44" fmla="*/ 75 w 90"/>
                <a:gd name="T4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6">
                  <a:moveTo>
                    <a:pt x="75" y="106"/>
                  </a:moveTo>
                  <a:lnTo>
                    <a:pt x="78" y="105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1"/>
                  </a:lnTo>
                  <a:lnTo>
                    <a:pt x="90" y="15"/>
                  </a:lnTo>
                  <a:lnTo>
                    <a:pt x="90" y="13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3"/>
                  </a:lnTo>
                  <a:lnTo>
                    <a:pt x="80" y="1"/>
                  </a:lnTo>
                  <a:lnTo>
                    <a:pt x="78" y="1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5" y="106"/>
                  </a:lnTo>
                  <a:lnTo>
                    <a:pt x="75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84">
              <a:extLst>
                <a:ext uri="{FF2B5EF4-FFF2-40B4-BE49-F238E27FC236}">
                  <a16:creationId xmlns:a16="http://schemas.microsoft.com/office/drawing/2014/main" id="{71355AF3-97FA-44F4-8CED-39EABD799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1484313"/>
              <a:ext cx="28575" cy="33338"/>
            </a:xfrm>
            <a:custGeom>
              <a:avLst/>
              <a:gdLst>
                <a:gd name="T0" fmla="*/ 15 w 90"/>
                <a:gd name="T1" fmla="*/ 106 h 106"/>
                <a:gd name="T2" fmla="*/ 90 w 90"/>
                <a:gd name="T3" fmla="*/ 106 h 106"/>
                <a:gd name="T4" fmla="*/ 90 w 90"/>
                <a:gd name="T5" fmla="*/ 0 h 106"/>
                <a:gd name="T6" fmla="*/ 15 w 90"/>
                <a:gd name="T7" fmla="*/ 0 h 106"/>
                <a:gd name="T8" fmla="*/ 11 w 90"/>
                <a:gd name="T9" fmla="*/ 1 h 106"/>
                <a:gd name="T10" fmla="*/ 9 w 90"/>
                <a:gd name="T11" fmla="*/ 1 h 106"/>
                <a:gd name="T12" fmla="*/ 6 w 90"/>
                <a:gd name="T13" fmla="*/ 3 h 106"/>
                <a:gd name="T14" fmla="*/ 4 w 90"/>
                <a:gd name="T15" fmla="*/ 4 h 106"/>
                <a:gd name="T16" fmla="*/ 2 w 90"/>
                <a:gd name="T17" fmla="*/ 7 h 106"/>
                <a:gd name="T18" fmla="*/ 1 w 90"/>
                <a:gd name="T19" fmla="*/ 10 h 106"/>
                <a:gd name="T20" fmla="*/ 0 w 90"/>
                <a:gd name="T21" fmla="*/ 13 h 106"/>
                <a:gd name="T22" fmla="*/ 0 w 90"/>
                <a:gd name="T23" fmla="*/ 15 h 106"/>
                <a:gd name="T24" fmla="*/ 0 w 90"/>
                <a:gd name="T25" fmla="*/ 90 h 106"/>
                <a:gd name="T26" fmla="*/ 0 w 90"/>
                <a:gd name="T27" fmla="*/ 93 h 106"/>
                <a:gd name="T28" fmla="*/ 1 w 90"/>
                <a:gd name="T29" fmla="*/ 96 h 106"/>
                <a:gd name="T30" fmla="*/ 2 w 90"/>
                <a:gd name="T31" fmla="*/ 99 h 106"/>
                <a:gd name="T32" fmla="*/ 4 w 90"/>
                <a:gd name="T33" fmla="*/ 101 h 106"/>
                <a:gd name="T34" fmla="*/ 6 w 90"/>
                <a:gd name="T35" fmla="*/ 103 h 106"/>
                <a:gd name="T36" fmla="*/ 9 w 90"/>
                <a:gd name="T37" fmla="*/ 104 h 106"/>
                <a:gd name="T38" fmla="*/ 11 w 90"/>
                <a:gd name="T39" fmla="*/ 105 h 106"/>
                <a:gd name="T40" fmla="*/ 15 w 90"/>
                <a:gd name="T41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6">
                  <a:moveTo>
                    <a:pt x="15" y="106"/>
                  </a:moveTo>
                  <a:lnTo>
                    <a:pt x="90" y="106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4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2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485">
              <a:extLst>
                <a:ext uri="{FF2B5EF4-FFF2-40B4-BE49-F238E27FC236}">
                  <a16:creationId xmlns:a16="http://schemas.microsoft.com/office/drawing/2014/main" id="{1D1D6786-F147-423B-8681-E0DF22328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368425"/>
              <a:ext cx="28575" cy="34925"/>
            </a:xfrm>
            <a:custGeom>
              <a:avLst/>
              <a:gdLst>
                <a:gd name="T0" fmla="*/ 90 w 90"/>
                <a:gd name="T1" fmla="*/ 92 h 107"/>
                <a:gd name="T2" fmla="*/ 90 w 90"/>
                <a:gd name="T3" fmla="*/ 15 h 107"/>
                <a:gd name="T4" fmla="*/ 90 w 90"/>
                <a:gd name="T5" fmla="*/ 13 h 107"/>
                <a:gd name="T6" fmla="*/ 89 w 90"/>
                <a:gd name="T7" fmla="*/ 10 h 107"/>
                <a:gd name="T8" fmla="*/ 88 w 90"/>
                <a:gd name="T9" fmla="*/ 8 h 107"/>
                <a:gd name="T10" fmla="*/ 86 w 90"/>
                <a:gd name="T11" fmla="*/ 6 h 107"/>
                <a:gd name="T12" fmla="*/ 84 w 90"/>
                <a:gd name="T13" fmla="*/ 4 h 107"/>
                <a:gd name="T14" fmla="*/ 80 w 90"/>
                <a:gd name="T15" fmla="*/ 3 h 107"/>
                <a:gd name="T16" fmla="*/ 78 w 90"/>
                <a:gd name="T17" fmla="*/ 2 h 107"/>
                <a:gd name="T18" fmla="*/ 75 w 90"/>
                <a:gd name="T19" fmla="*/ 2 h 107"/>
                <a:gd name="T20" fmla="*/ 0 w 90"/>
                <a:gd name="T21" fmla="*/ 0 h 107"/>
                <a:gd name="T22" fmla="*/ 0 w 90"/>
                <a:gd name="T23" fmla="*/ 107 h 107"/>
                <a:gd name="T24" fmla="*/ 75 w 90"/>
                <a:gd name="T25" fmla="*/ 107 h 107"/>
                <a:gd name="T26" fmla="*/ 78 w 90"/>
                <a:gd name="T27" fmla="*/ 106 h 107"/>
                <a:gd name="T28" fmla="*/ 80 w 90"/>
                <a:gd name="T29" fmla="*/ 106 h 107"/>
                <a:gd name="T30" fmla="*/ 84 w 90"/>
                <a:gd name="T31" fmla="*/ 103 h 107"/>
                <a:gd name="T32" fmla="*/ 86 w 90"/>
                <a:gd name="T33" fmla="*/ 102 h 107"/>
                <a:gd name="T34" fmla="*/ 88 w 90"/>
                <a:gd name="T35" fmla="*/ 100 h 107"/>
                <a:gd name="T36" fmla="*/ 89 w 90"/>
                <a:gd name="T37" fmla="*/ 97 h 107"/>
                <a:gd name="T38" fmla="*/ 90 w 90"/>
                <a:gd name="T39" fmla="*/ 95 h 107"/>
                <a:gd name="T40" fmla="*/ 90 w 90"/>
                <a:gd name="T41" fmla="*/ 9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7">
                  <a:moveTo>
                    <a:pt x="90" y="92"/>
                  </a:moveTo>
                  <a:lnTo>
                    <a:pt x="90" y="15"/>
                  </a:lnTo>
                  <a:lnTo>
                    <a:pt x="90" y="13"/>
                  </a:lnTo>
                  <a:lnTo>
                    <a:pt x="89" y="10"/>
                  </a:lnTo>
                  <a:lnTo>
                    <a:pt x="88" y="8"/>
                  </a:lnTo>
                  <a:lnTo>
                    <a:pt x="86" y="6"/>
                  </a:lnTo>
                  <a:lnTo>
                    <a:pt x="84" y="4"/>
                  </a:lnTo>
                  <a:lnTo>
                    <a:pt x="80" y="3"/>
                  </a:lnTo>
                  <a:lnTo>
                    <a:pt x="78" y="2"/>
                  </a:lnTo>
                  <a:lnTo>
                    <a:pt x="75" y="2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75" y="107"/>
                  </a:lnTo>
                  <a:lnTo>
                    <a:pt x="78" y="106"/>
                  </a:lnTo>
                  <a:lnTo>
                    <a:pt x="80" y="106"/>
                  </a:lnTo>
                  <a:lnTo>
                    <a:pt x="84" y="103"/>
                  </a:lnTo>
                  <a:lnTo>
                    <a:pt x="86" y="102"/>
                  </a:lnTo>
                  <a:lnTo>
                    <a:pt x="88" y="100"/>
                  </a:lnTo>
                  <a:lnTo>
                    <a:pt x="89" y="97"/>
                  </a:lnTo>
                  <a:lnTo>
                    <a:pt x="90" y="95"/>
                  </a:lnTo>
                  <a:lnTo>
                    <a:pt x="9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486">
              <a:extLst>
                <a:ext uri="{FF2B5EF4-FFF2-40B4-BE49-F238E27FC236}">
                  <a16:creationId xmlns:a16="http://schemas.microsoft.com/office/drawing/2014/main" id="{7EF27FE8-5FBD-4924-9F78-02B9C47D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368425"/>
              <a:ext cx="28575" cy="34925"/>
            </a:xfrm>
            <a:custGeom>
              <a:avLst/>
              <a:gdLst>
                <a:gd name="T0" fmla="*/ 15 w 90"/>
                <a:gd name="T1" fmla="*/ 107 h 107"/>
                <a:gd name="T2" fmla="*/ 90 w 90"/>
                <a:gd name="T3" fmla="*/ 107 h 107"/>
                <a:gd name="T4" fmla="*/ 90 w 90"/>
                <a:gd name="T5" fmla="*/ 0 h 107"/>
                <a:gd name="T6" fmla="*/ 15 w 90"/>
                <a:gd name="T7" fmla="*/ 0 h 107"/>
                <a:gd name="T8" fmla="*/ 11 w 90"/>
                <a:gd name="T9" fmla="*/ 2 h 107"/>
                <a:gd name="T10" fmla="*/ 9 w 90"/>
                <a:gd name="T11" fmla="*/ 3 h 107"/>
                <a:gd name="T12" fmla="*/ 6 w 90"/>
                <a:gd name="T13" fmla="*/ 4 h 107"/>
                <a:gd name="T14" fmla="*/ 4 w 90"/>
                <a:gd name="T15" fmla="*/ 6 h 107"/>
                <a:gd name="T16" fmla="*/ 3 w 90"/>
                <a:gd name="T17" fmla="*/ 8 h 107"/>
                <a:gd name="T18" fmla="*/ 1 w 90"/>
                <a:gd name="T19" fmla="*/ 10 h 107"/>
                <a:gd name="T20" fmla="*/ 0 w 90"/>
                <a:gd name="T21" fmla="*/ 13 h 107"/>
                <a:gd name="T22" fmla="*/ 0 w 90"/>
                <a:gd name="T23" fmla="*/ 17 h 107"/>
                <a:gd name="T24" fmla="*/ 0 w 90"/>
                <a:gd name="T25" fmla="*/ 92 h 107"/>
                <a:gd name="T26" fmla="*/ 0 w 90"/>
                <a:gd name="T27" fmla="*/ 95 h 107"/>
                <a:gd name="T28" fmla="*/ 1 w 90"/>
                <a:gd name="T29" fmla="*/ 97 h 107"/>
                <a:gd name="T30" fmla="*/ 3 w 90"/>
                <a:gd name="T31" fmla="*/ 100 h 107"/>
                <a:gd name="T32" fmla="*/ 4 w 90"/>
                <a:gd name="T33" fmla="*/ 102 h 107"/>
                <a:gd name="T34" fmla="*/ 6 w 90"/>
                <a:gd name="T35" fmla="*/ 103 h 107"/>
                <a:gd name="T36" fmla="*/ 9 w 90"/>
                <a:gd name="T37" fmla="*/ 106 h 107"/>
                <a:gd name="T38" fmla="*/ 11 w 90"/>
                <a:gd name="T39" fmla="*/ 106 h 107"/>
                <a:gd name="T40" fmla="*/ 15 w 90"/>
                <a:gd name="T4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7">
                  <a:moveTo>
                    <a:pt x="15" y="107"/>
                  </a:moveTo>
                  <a:lnTo>
                    <a:pt x="90" y="107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9" y="3"/>
                  </a:lnTo>
                  <a:lnTo>
                    <a:pt x="6" y="4"/>
                  </a:lnTo>
                  <a:lnTo>
                    <a:pt x="4" y="6"/>
                  </a:lnTo>
                  <a:lnTo>
                    <a:pt x="3" y="8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2"/>
                  </a:lnTo>
                  <a:lnTo>
                    <a:pt x="6" y="103"/>
                  </a:lnTo>
                  <a:lnTo>
                    <a:pt x="9" y="106"/>
                  </a:lnTo>
                  <a:lnTo>
                    <a:pt x="11" y="106"/>
                  </a:lnTo>
                  <a:lnTo>
                    <a:pt x="15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487">
              <a:extLst>
                <a:ext uri="{FF2B5EF4-FFF2-40B4-BE49-F238E27FC236}">
                  <a16:creationId xmlns:a16="http://schemas.microsoft.com/office/drawing/2014/main" id="{CF46FD9E-E244-467B-8525-9D7D4A9D1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368425"/>
              <a:ext cx="49213" cy="34925"/>
            </a:xfrm>
            <a:custGeom>
              <a:avLst/>
              <a:gdLst>
                <a:gd name="T0" fmla="*/ 151 w 151"/>
                <a:gd name="T1" fmla="*/ 107 h 107"/>
                <a:gd name="T2" fmla="*/ 151 w 151"/>
                <a:gd name="T3" fmla="*/ 0 h 107"/>
                <a:gd name="T4" fmla="*/ 0 w 151"/>
                <a:gd name="T5" fmla="*/ 0 h 107"/>
                <a:gd name="T6" fmla="*/ 0 w 151"/>
                <a:gd name="T7" fmla="*/ 107 h 107"/>
                <a:gd name="T8" fmla="*/ 76 w 151"/>
                <a:gd name="T9" fmla="*/ 107 h 107"/>
                <a:gd name="T10" fmla="*/ 151 w 151"/>
                <a:gd name="T1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7">
                  <a:moveTo>
                    <a:pt x="151" y="107"/>
                  </a:moveTo>
                  <a:lnTo>
                    <a:pt x="151" y="0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76" y="107"/>
                  </a:lnTo>
                  <a:lnTo>
                    <a:pt x="151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488">
              <a:extLst>
                <a:ext uri="{FF2B5EF4-FFF2-40B4-BE49-F238E27FC236}">
                  <a16:creationId xmlns:a16="http://schemas.microsoft.com/office/drawing/2014/main" id="{88D57E34-34BA-47A7-98D6-DB982DAFE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1598613"/>
              <a:ext cx="28575" cy="33338"/>
            </a:xfrm>
            <a:custGeom>
              <a:avLst/>
              <a:gdLst>
                <a:gd name="T0" fmla="*/ 75 w 91"/>
                <a:gd name="T1" fmla="*/ 0 h 106"/>
                <a:gd name="T2" fmla="*/ 45 w 91"/>
                <a:gd name="T3" fmla="*/ 0 h 106"/>
                <a:gd name="T4" fmla="*/ 0 w 91"/>
                <a:gd name="T5" fmla="*/ 0 h 106"/>
                <a:gd name="T6" fmla="*/ 0 w 91"/>
                <a:gd name="T7" fmla="*/ 106 h 106"/>
                <a:gd name="T8" fmla="*/ 75 w 91"/>
                <a:gd name="T9" fmla="*/ 106 h 106"/>
                <a:gd name="T10" fmla="*/ 79 w 91"/>
                <a:gd name="T11" fmla="*/ 106 h 106"/>
                <a:gd name="T12" fmla="*/ 81 w 91"/>
                <a:gd name="T13" fmla="*/ 104 h 106"/>
                <a:gd name="T14" fmla="*/ 84 w 91"/>
                <a:gd name="T15" fmla="*/ 103 h 106"/>
                <a:gd name="T16" fmla="*/ 86 w 91"/>
                <a:gd name="T17" fmla="*/ 101 h 106"/>
                <a:gd name="T18" fmla="*/ 88 w 91"/>
                <a:gd name="T19" fmla="*/ 99 h 106"/>
                <a:gd name="T20" fmla="*/ 89 w 91"/>
                <a:gd name="T21" fmla="*/ 97 h 106"/>
                <a:gd name="T22" fmla="*/ 91 w 91"/>
                <a:gd name="T23" fmla="*/ 94 h 106"/>
                <a:gd name="T24" fmla="*/ 91 w 91"/>
                <a:gd name="T25" fmla="*/ 91 h 106"/>
                <a:gd name="T26" fmla="*/ 91 w 91"/>
                <a:gd name="T27" fmla="*/ 15 h 106"/>
                <a:gd name="T28" fmla="*/ 91 w 91"/>
                <a:gd name="T29" fmla="*/ 12 h 106"/>
                <a:gd name="T30" fmla="*/ 89 w 91"/>
                <a:gd name="T31" fmla="*/ 10 h 106"/>
                <a:gd name="T32" fmla="*/ 88 w 91"/>
                <a:gd name="T33" fmla="*/ 7 h 106"/>
                <a:gd name="T34" fmla="*/ 86 w 91"/>
                <a:gd name="T35" fmla="*/ 5 h 106"/>
                <a:gd name="T36" fmla="*/ 84 w 91"/>
                <a:gd name="T37" fmla="*/ 4 h 106"/>
                <a:gd name="T38" fmla="*/ 81 w 91"/>
                <a:gd name="T39" fmla="*/ 2 h 106"/>
                <a:gd name="T40" fmla="*/ 79 w 91"/>
                <a:gd name="T41" fmla="*/ 2 h 106"/>
                <a:gd name="T42" fmla="*/ 75 w 91"/>
                <a:gd name="T43" fmla="*/ 0 h 106"/>
                <a:gd name="T44" fmla="*/ 75 w 91"/>
                <a:gd name="T4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106">
                  <a:moveTo>
                    <a:pt x="75" y="0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75" y="106"/>
                  </a:lnTo>
                  <a:lnTo>
                    <a:pt x="79" y="106"/>
                  </a:lnTo>
                  <a:lnTo>
                    <a:pt x="81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1" y="94"/>
                  </a:lnTo>
                  <a:lnTo>
                    <a:pt x="91" y="91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489">
              <a:extLst>
                <a:ext uri="{FF2B5EF4-FFF2-40B4-BE49-F238E27FC236}">
                  <a16:creationId xmlns:a16="http://schemas.microsoft.com/office/drawing/2014/main" id="{F30E7BFE-901E-4881-9F33-4F3776C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1598613"/>
              <a:ext cx="28575" cy="33338"/>
            </a:xfrm>
            <a:custGeom>
              <a:avLst/>
              <a:gdLst>
                <a:gd name="T0" fmla="*/ 0 w 90"/>
                <a:gd name="T1" fmla="*/ 15 h 106"/>
                <a:gd name="T2" fmla="*/ 0 w 90"/>
                <a:gd name="T3" fmla="*/ 91 h 106"/>
                <a:gd name="T4" fmla="*/ 0 w 90"/>
                <a:gd name="T5" fmla="*/ 94 h 106"/>
                <a:gd name="T6" fmla="*/ 1 w 90"/>
                <a:gd name="T7" fmla="*/ 97 h 106"/>
                <a:gd name="T8" fmla="*/ 3 w 90"/>
                <a:gd name="T9" fmla="*/ 99 h 106"/>
                <a:gd name="T10" fmla="*/ 4 w 90"/>
                <a:gd name="T11" fmla="*/ 101 h 106"/>
                <a:gd name="T12" fmla="*/ 6 w 90"/>
                <a:gd name="T13" fmla="*/ 103 h 106"/>
                <a:gd name="T14" fmla="*/ 10 w 90"/>
                <a:gd name="T15" fmla="*/ 104 h 106"/>
                <a:gd name="T16" fmla="*/ 12 w 90"/>
                <a:gd name="T17" fmla="*/ 106 h 106"/>
                <a:gd name="T18" fmla="*/ 15 w 90"/>
                <a:gd name="T19" fmla="*/ 106 h 106"/>
                <a:gd name="T20" fmla="*/ 90 w 90"/>
                <a:gd name="T21" fmla="*/ 106 h 106"/>
                <a:gd name="T22" fmla="*/ 90 w 90"/>
                <a:gd name="T23" fmla="*/ 0 h 106"/>
                <a:gd name="T24" fmla="*/ 15 w 90"/>
                <a:gd name="T25" fmla="*/ 0 h 106"/>
                <a:gd name="T26" fmla="*/ 12 w 90"/>
                <a:gd name="T27" fmla="*/ 0 h 106"/>
                <a:gd name="T28" fmla="*/ 10 w 90"/>
                <a:gd name="T29" fmla="*/ 2 h 106"/>
                <a:gd name="T30" fmla="*/ 6 w 90"/>
                <a:gd name="T31" fmla="*/ 4 h 106"/>
                <a:gd name="T32" fmla="*/ 4 w 90"/>
                <a:gd name="T33" fmla="*/ 5 h 106"/>
                <a:gd name="T34" fmla="*/ 3 w 90"/>
                <a:gd name="T35" fmla="*/ 7 h 106"/>
                <a:gd name="T36" fmla="*/ 1 w 90"/>
                <a:gd name="T37" fmla="*/ 10 h 106"/>
                <a:gd name="T38" fmla="*/ 0 w 90"/>
                <a:gd name="T39" fmla="*/ 12 h 106"/>
                <a:gd name="T40" fmla="*/ 0 w 90"/>
                <a:gd name="T41" fmla="*/ 1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6">
                  <a:moveTo>
                    <a:pt x="0" y="15"/>
                  </a:moveTo>
                  <a:lnTo>
                    <a:pt x="0" y="91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10" y="104"/>
                  </a:lnTo>
                  <a:lnTo>
                    <a:pt x="12" y="106"/>
                  </a:lnTo>
                  <a:lnTo>
                    <a:pt x="15" y="106"/>
                  </a:lnTo>
                  <a:lnTo>
                    <a:pt x="90" y="106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490">
              <a:extLst>
                <a:ext uri="{FF2B5EF4-FFF2-40B4-BE49-F238E27FC236}">
                  <a16:creationId xmlns:a16="http://schemas.microsoft.com/office/drawing/2014/main" id="{3B4BB294-3F58-429D-AD93-7B23F68F0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388" y="1598613"/>
              <a:ext cx="47625" cy="33338"/>
            </a:xfrm>
            <a:custGeom>
              <a:avLst/>
              <a:gdLst>
                <a:gd name="T0" fmla="*/ 0 w 151"/>
                <a:gd name="T1" fmla="*/ 0 h 106"/>
                <a:gd name="T2" fmla="*/ 0 w 151"/>
                <a:gd name="T3" fmla="*/ 106 h 106"/>
                <a:gd name="T4" fmla="*/ 151 w 151"/>
                <a:gd name="T5" fmla="*/ 106 h 106"/>
                <a:gd name="T6" fmla="*/ 151 w 151"/>
                <a:gd name="T7" fmla="*/ 0 h 106"/>
                <a:gd name="T8" fmla="*/ 45 w 151"/>
                <a:gd name="T9" fmla="*/ 0 h 106"/>
                <a:gd name="T10" fmla="*/ 0 w 151"/>
                <a:gd name="T1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6">
                  <a:moveTo>
                    <a:pt x="0" y="0"/>
                  </a:moveTo>
                  <a:lnTo>
                    <a:pt x="0" y="106"/>
                  </a:lnTo>
                  <a:lnTo>
                    <a:pt x="151" y="106"/>
                  </a:lnTo>
                  <a:lnTo>
                    <a:pt x="151" y="0"/>
                  </a:lnTo>
                  <a:lnTo>
                    <a:pt x="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491">
              <a:extLst>
                <a:ext uri="{FF2B5EF4-FFF2-40B4-BE49-F238E27FC236}">
                  <a16:creationId xmlns:a16="http://schemas.microsoft.com/office/drawing/2014/main" id="{8322FD8B-1448-4FFE-A201-5D3161586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438" y="1560513"/>
              <a:ext cx="47625" cy="33338"/>
            </a:xfrm>
            <a:custGeom>
              <a:avLst/>
              <a:gdLst>
                <a:gd name="T0" fmla="*/ 150 w 150"/>
                <a:gd name="T1" fmla="*/ 0 h 105"/>
                <a:gd name="T2" fmla="*/ 105 w 150"/>
                <a:gd name="T3" fmla="*/ 0 h 105"/>
                <a:gd name="T4" fmla="*/ 0 w 150"/>
                <a:gd name="T5" fmla="*/ 0 h 105"/>
                <a:gd name="T6" fmla="*/ 0 w 150"/>
                <a:gd name="T7" fmla="*/ 105 h 105"/>
                <a:gd name="T8" fmla="*/ 105 w 150"/>
                <a:gd name="T9" fmla="*/ 105 h 105"/>
                <a:gd name="T10" fmla="*/ 150 w 150"/>
                <a:gd name="T11" fmla="*/ 105 h 105"/>
                <a:gd name="T12" fmla="*/ 150 w 150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105">
                  <a:moveTo>
                    <a:pt x="150" y="0"/>
                  </a:moveTo>
                  <a:lnTo>
                    <a:pt x="10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05" y="105"/>
                  </a:lnTo>
                  <a:lnTo>
                    <a:pt x="150" y="105"/>
                  </a:lnTo>
                  <a:lnTo>
                    <a:pt x="1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492">
              <a:extLst>
                <a:ext uri="{FF2B5EF4-FFF2-40B4-BE49-F238E27FC236}">
                  <a16:creationId xmlns:a16="http://schemas.microsoft.com/office/drawing/2014/main" id="{EE943E9D-D099-460E-BED6-3461B3C98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338" y="15605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45 w 90"/>
                <a:gd name="T3" fmla="*/ 0 h 105"/>
                <a:gd name="T4" fmla="*/ 15 w 90"/>
                <a:gd name="T5" fmla="*/ 0 h 105"/>
                <a:gd name="T6" fmla="*/ 12 w 90"/>
                <a:gd name="T7" fmla="*/ 0 h 105"/>
                <a:gd name="T8" fmla="*/ 10 w 90"/>
                <a:gd name="T9" fmla="*/ 1 h 105"/>
                <a:gd name="T10" fmla="*/ 7 w 90"/>
                <a:gd name="T11" fmla="*/ 2 h 105"/>
                <a:gd name="T12" fmla="*/ 4 w 90"/>
                <a:gd name="T13" fmla="*/ 5 h 105"/>
                <a:gd name="T14" fmla="*/ 3 w 90"/>
                <a:gd name="T15" fmla="*/ 7 h 105"/>
                <a:gd name="T16" fmla="*/ 1 w 90"/>
                <a:gd name="T17" fmla="*/ 10 h 105"/>
                <a:gd name="T18" fmla="*/ 1 w 90"/>
                <a:gd name="T19" fmla="*/ 12 h 105"/>
                <a:gd name="T20" fmla="*/ 0 w 90"/>
                <a:gd name="T21" fmla="*/ 15 h 105"/>
                <a:gd name="T22" fmla="*/ 0 w 90"/>
                <a:gd name="T23" fmla="*/ 90 h 105"/>
                <a:gd name="T24" fmla="*/ 1 w 90"/>
                <a:gd name="T25" fmla="*/ 94 h 105"/>
                <a:gd name="T26" fmla="*/ 1 w 90"/>
                <a:gd name="T27" fmla="*/ 97 h 105"/>
                <a:gd name="T28" fmla="*/ 3 w 90"/>
                <a:gd name="T29" fmla="*/ 99 h 105"/>
                <a:gd name="T30" fmla="*/ 4 w 90"/>
                <a:gd name="T31" fmla="*/ 101 h 105"/>
                <a:gd name="T32" fmla="*/ 7 w 90"/>
                <a:gd name="T33" fmla="*/ 103 h 105"/>
                <a:gd name="T34" fmla="*/ 10 w 90"/>
                <a:gd name="T35" fmla="*/ 104 h 105"/>
                <a:gd name="T36" fmla="*/ 12 w 90"/>
                <a:gd name="T37" fmla="*/ 105 h 105"/>
                <a:gd name="T38" fmla="*/ 15 w 90"/>
                <a:gd name="T39" fmla="*/ 105 h 105"/>
                <a:gd name="T40" fmla="*/ 45 w 90"/>
                <a:gd name="T41" fmla="*/ 105 h 105"/>
                <a:gd name="T42" fmla="*/ 90 w 90"/>
                <a:gd name="T43" fmla="*/ 105 h 105"/>
                <a:gd name="T44" fmla="*/ 90 w 90"/>
                <a:gd name="T4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4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1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10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493">
              <a:extLst>
                <a:ext uri="{FF2B5EF4-FFF2-40B4-BE49-F238E27FC236}">
                  <a16:creationId xmlns:a16="http://schemas.microsoft.com/office/drawing/2014/main" id="{72E69C20-B8DF-4566-BBFE-E0C94A5C2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88" y="1560513"/>
              <a:ext cx="28575" cy="33338"/>
            </a:xfrm>
            <a:custGeom>
              <a:avLst/>
              <a:gdLst>
                <a:gd name="T0" fmla="*/ 76 w 91"/>
                <a:gd name="T1" fmla="*/ 0 h 105"/>
                <a:gd name="T2" fmla="*/ 0 w 91"/>
                <a:gd name="T3" fmla="*/ 0 h 105"/>
                <a:gd name="T4" fmla="*/ 0 w 91"/>
                <a:gd name="T5" fmla="*/ 105 h 105"/>
                <a:gd name="T6" fmla="*/ 76 w 91"/>
                <a:gd name="T7" fmla="*/ 105 h 105"/>
                <a:gd name="T8" fmla="*/ 79 w 91"/>
                <a:gd name="T9" fmla="*/ 105 h 105"/>
                <a:gd name="T10" fmla="*/ 82 w 91"/>
                <a:gd name="T11" fmla="*/ 104 h 105"/>
                <a:gd name="T12" fmla="*/ 84 w 91"/>
                <a:gd name="T13" fmla="*/ 103 h 105"/>
                <a:gd name="T14" fmla="*/ 86 w 91"/>
                <a:gd name="T15" fmla="*/ 101 h 105"/>
                <a:gd name="T16" fmla="*/ 88 w 91"/>
                <a:gd name="T17" fmla="*/ 99 h 105"/>
                <a:gd name="T18" fmla="*/ 89 w 91"/>
                <a:gd name="T19" fmla="*/ 97 h 105"/>
                <a:gd name="T20" fmla="*/ 91 w 91"/>
                <a:gd name="T21" fmla="*/ 94 h 105"/>
                <a:gd name="T22" fmla="*/ 91 w 91"/>
                <a:gd name="T23" fmla="*/ 90 h 105"/>
                <a:gd name="T24" fmla="*/ 91 w 91"/>
                <a:gd name="T25" fmla="*/ 15 h 105"/>
                <a:gd name="T26" fmla="*/ 91 w 91"/>
                <a:gd name="T27" fmla="*/ 12 h 105"/>
                <a:gd name="T28" fmla="*/ 89 w 91"/>
                <a:gd name="T29" fmla="*/ 9 h 105"/>
                <a:gd name="T30" fmla="*/ 88 w 91"/>
                <a:gd name="T31" fmla="*/ 7 h 105"/>
                <a:gd name="T32" fmla="*/ 86 w 91"/>
                <a:gd name="T33" fmla="*/ 5 h 105"/>
                <a:gd name="T34" fmla="*/ 84 w 91"/>
                <a:gd name="T35" fmla="*/ 2 h 105"/>
                <a:gd name="T36" fmla="*/ 82 w 91"/>
                <a:gd name="T37" fmla="*/ 1 h 105"/>
                <a:gd name="T38" fmla="*/ 79 w 91"/>
                <a:gd name="T39" fmla="*/ 0 h 105"/>
                <a:gd name="T40" fmla="*/ 76 w 91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1" h="105">
                  <a:moveTo>
                    <a:pt x="76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76" y="105"/>
                  </a:lnTo>
                  <a:lnTo>
                    <a:pt x="79" y="105"/>
                  </a:lnTo>
                  <a:lnTo>
                    <a:pt x="82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1" y="94"/>
                  </a:lnTo>
                  <a:lnTo>
                    <a:pt x="91" y="90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2" y="1"/>
                  </a:lnTo>
                  <a:lnTo>
                    <a:pt x="79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494">
              <a:extLst>
                <a:ext uri="{FF2B5EF4-FFF2-40B4-BE49-F238E27FC236}">
                  <a16:creationId xmlns:a16="http://schemas.microsoft.com/office/drawing/2014/main" id="{3EF09789-E73A-4CFB-9FCF-08DA00003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1522413"/>
              <a:ext cx="28575" cy="33338"/>
            </a:xfrm>
            <a:custGeom>
              <a:avLst/>
              <a:gdLst>
                <a:gd name="T0" fmla="*/ 75 w 91"/>
                <a:gd name="T1" fmla="*/ 105 h 105"/>
                <a:gd name="T2" fmla="*/ 79 w 91"/>
                <a:gd name="T3" fmla="*/ 105 h 105"/>
                <a:gd name="T4" fmla="*/ 81 w 91"/>
                <a:gd name="T5" fmla="*/ 104 h 105"/>
                <a:gd name="T6" fmla="*/ 84 w 91"/>
                <a:gd name="T7" fmla="*/ 102 h 105"/>
                <a:gd name="T8" fmla="*/ 86 w 91"/>
                <a:gd name="T9" fmla="*/ 101 h 105"/>
                <a:gd name="T10" fmla="*/ 88 w 91"/>
                <a:gd name="T11" fmla="*/ 99 h 105"/>
                <a:gd name="T12" fmla="*/ 89 w 91"/>
                <a:gd name="T13" fmla="*/ 96 h 105"/>
                <a:gd name="T14" fmla="*/ 91 w 91"/>
                <a:gd name="T15" fmla="*/ 93 h 105"/>
                <a:gd name="T16" fmla="*/ 91 w 91"/>
                <a:gd name="T17" fmla="*/ 90 h 105"/>
                <a:gd name="T18" fmla="*/ 91 w 91"/>
                <a:gd name="T19" fmla="*/ 15 h 105"/>
                <a:gd name="T20" fmla="*/ 91 w 91"/>
                <a:gd name="T21" fmla="*/ 12 h 105"/>
                <a:gd name="T22" fmla="*/ 89 w 91"/>
                <a:gd name="T23" fmla="*/ 9 h 105"/>
                <a:gd name="T24" fmla="*/ 88 w 91"/>
                <a:gd name="T25" fmla="*/ 7 h 105"/>
                <a:gd name="T26" fmla="*/ 86 w 91"/>
                <a:gd name="T27" fmla="*/ 4 h 105"/>
                <a:gd name="T28" fmla="*/ 84 w 91"/>
                <a:gd name="T29" fmla="*/ 2 h 105"/>
                <a:gd name="T30" fmla="*/ 81 w 91"/>
                <a:gd name="T31" fmla="*/ 1 h 105"/>
                <a:gd name="T32" fmla="*/ 79 w 91"/>
                <a:gd name="T33" fmla="*/ 0 h 105"/>
                <a:gd name="T34" fmla="*/ 75 w 91"/>
                <a:gd name="T35" fmla="*/ 0 h 105"/>
                <a:gd name="T36" fmla="*/ 0 w 91"/>
                <a:gd name="T37" fmla="*/ 0 h 105"/>
                <a:gd name="T38" fmla="*/ 0 w 91"/>
                <a:gd name="T39" fmla="*/ 105 h 105"/>
                <a:gd name="T40" fmla="*/ 45 w 91"/>
                <a:gd name="T41" fmla="*/ 105 h 105"/>
                <a:gd name="T42" fmla="*/ 75 w 91"/>
                <a:gd name="T4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" h="105">
                  <a:moveTo>
                    <a:pt x="75" y="105"/>
                  </a:moveTo>
                  <a:lnTo>
                    <a:pt x="79" y="105"/>
                  </a:lnTo>
                  <a:lnTo>
                    <a:pt x="81" y="104"/>
                  </a:lnTo>
                  <a:lnTo>
                    <a:pt x="84" y="102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1" y="93"/>
                  </a:lnTo>
                  <a:lnTo>
                    <a:pt x="91" y="90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1" y="1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45" y="105"/>
                  </a:lnTo>
                  <a:lnTo>
                    <a:pt x="75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95">
              <a:extLst>
                <a:ext uri="{FF2B5EF4-FFF2-40B4-BE49-F238E27FC236}">
                  <a16:creationId xmlns:a16="http://schemas.microsoft.com/office/drawing/2014/main" id="{35F9925A-D080-4D49-928B-2EF534E31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388" y="1522413"/>
              <a:ext cx="47625" cy="33338"/>
            </a:xfrm>
            <a:custGeom>
              <a:avLst/>
              <a:gdLst>
                <a:gd name="T0" fmla="*/ 151 w 151"/>
                <a:gd name="T1" fmla="*/ 105 h 105"/>
                <a:gd name="T2" fmla="*/ 151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45 w 151"/>
                <a:gd name="T9" fmla="*/ 105 h 105"/>
                <a:gd name="T10" fmla="*/ 151 w 151"/>
                <a:gd name="T11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5">
                  <a:moveTo>
                    <a:pt x="151" y="105"/>
                  </a:moveTo>
                  <a:lnTo>
                    <a:pt x="151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45" y="105"/>
                  </a:lnTo>
                  <a:lnTo>
                    <a:pt x="15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96">
              <a:extLst>
                <a:ext uri="{FF2B5EF4-FFF2-40B4-BE49-F238E27FC236}">
                  <a16:creationId xmlns:a16="http://schemas.microsoft.com/office/drawing/2014/main" id="{4D7DF8E6-7B8D-412C-9307-FAE2CA5C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1522413"/>
              <a:ext cx="28575" cy="33338"/>
            </a:xfrm>
            <a:custGeom>
              <a:avLst/>
              <a:gdLst>
                <a:gd name="T0" fmla="*/ 0 w 90"/>
                <a:gd name="T1" fmla="*/ 15 h 105"/>
                <a:gd name="T2" fmla="*/ 0 w 90"/>
                <a:gd name="T3" fmla="*/ 90 h 105"/>
                <a:gd name="T4" fmla="*/ 0 w 90"/>
                <a:gd name="T5" fmla="*/ 93 h 105"/>
                <a:gd name="T6" fmla="*/ 1 w 90"/>
                <a:gd name="T7" fmla="*/ 96 h 105"/>
                <a:gd name="T8" fmla="*/ 3 w 90"/>
                <a:gd name="T9" fmla="*/ 99 h 105"/>
                <a:gd name="T10" fmla="*/ 4 w 90"/>
                <a:gd name="T11" fmla="*/ 101 h 105"/>
                <a:gd name="T12" fmla="*/ 6 w 90"/>
                <a:gd name="T13" fmla="*/ 102 h 105"/>
                <a:gd name="T14" fmla="*/ 10 w 90"/>
                <a:gd name="T15" fmla="*/ 104 h 105"/>
                <a:gd name="T16" fmla="*/ 12 w 90"/>
                <a:gd name="T17" fmla="*/ 105 h 105"/>
                <a:gd name="T18" fmla="*/ 15 w 90"/>
                <a:gd name="T19" fmla="*/ 105 h 105"/>
                <a:gd name="T20" fmla="*/ 90 w 90"/>
                <a:gd name="T21" fmla="*/ 105 h 105"/>
                <a:gd name="T22" fmla="*/ 90 w 90"/>
                <a:gd name="T23" fmla="*/ 0 h 105"/>
                <a:gd name="T24" fmla="*/ 15 w 90"/>
                <a:gd name="T25" fmla="*/ 0 h 105"/>
                <a:gd name="T26" fmla="*/ 12 w 90"/>
                <a:gd name="T27" fmla="*/ 0 h 105"/>
                <a:gd name="T28" fmla="*/ 10 w 90"/>
                <a:gd name="T29" fmla="*/ 1 h 105"/>
                <a:gd name="T30" fmla="*/ 6 w 90"/>
                <a:gd name="T31" fmla="*/ 2 h 105"/>
                <a:gd name="T32" fmla="*/ 4 w 90"/>
                <a:gd name="T33" fmla="*/ 4 h 105"/>
                <a:gd name="T34" fmla="*/ 3 w 90"/>
                <a:gd name="T35" fmla="*/ 7 h 105"/>
                <a:gd name="T36" fmla="*/ 1 w 90"/>
                <a:gd name="T37" fmla="*/ 9 h 105"/>
                <a:gd name="T38" fmla="*/ 0 w 90"/>
                <a:gd name="T39" fmla="*/ 12 h 105"/>
                <a:gd name="T40" fmla="*/ 0 w 90"/>
                <a:gd name="T41" fmla="*/ 1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0" y="15"/>
                  </a:move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2"/>
                  </a:lnTo>
                  <a:lnTo>
                    <a:pt x="10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90" y="105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E2AD138-6B8C-40CA-A949-80EE0AE830BE}"/>
              </a:ext>
            </a:extLst>
          </p:cNvPr>
          <p:cNvSpPr/>
          <p:nvPr/>
        </p:nvSpPr>
        <p:spPr>
          <a:xfrm>
            <a:off x="1186197" y="2768999"/>
            <a:ext cx="16562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</a:rPr>
              <a:t>Upcoming Deposits</a:t>
            </a:r>
          </a:p>
        </p:txBody>
      </p:sp>
      <p:grpSp>
        <p:nvGrpSpPr>
          <p:cNvPr id="82" name="Group 81" descr="This is an icon of a cash register.">
            <a:extLst>
              <a:ext uri="{FF2B5EF4-FFF2-40B4-BE49-F238E27FC236}">
                <a16:creationId xmlns:a16="http://schemas.microsoft.com/office/drawing/2014/main" id="{B98E995E-9B1D-4A56-ACB0-682E15B8ABE6}"/>
              </a:ext>
            </a:extLst>
          </p:cNvPr>
          <p:cNvGrpSpPr/>
          <p:nvPr/>
        </p:nvGrpSpPr>
        <p:grpSpPr>
          <a:xfrm>
            <a:off x="5952331" y="1427188"/>
            <a:ext cx="287338" cy="287338"/>
            <a:chOff x="304800" y="771525"/>
            <a:chExt cx="287338" cy="287338"/>
          </a:xfrm>
          <a:solidFill>
            <a:schemeClr val="bg1"/>
          </a:solidFill>
        </p:grpSpPr>
        <p:sp>
          <p:nvSpPr>
            <p:cNvPr id="83" name="Freeform 321">
              <a:extLst>
                <a:ext uri="{FF2B5EF4-FFF2-40B4-BE49-F238E27FC236}">
                  <a16:creationId xmlns:a16="http://schemas.microsoft.com/office/drawing/2014/main" id="{F92A0E3D-9293-4005-9591-93C80117F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388" y="923925"/>
              <a:ext cx="284163" cy="68263"/>
            </a:xfrm>
            <a:custGeom>
              <a:avLst/>
              <a:gdLst>
                <a:gd name="T0" fmla="*/ 694 w 895"/>
                <a:gd name="T1" fmla="*/ 159 h 211"/>
                <a:gd name="T2" fmla="*/ 657 w 895"/>
                <a:gd name="T3" fmla="*/ 159 h 211"/>
                <a:gd name="T4" fmla="*/ 657 w 895"/>
                <a:gd name="T5" fmla="*/ 122 h 211"/>
                <a:gd name="T6" fmla="*/ 694 w 895"/>
                <a:gd name="T7" fmla="*/ 122 h 211"/>
                <a:gd name="T8" fmla="*/ 694 w 895"/>
                <a:gd name="T9" fmla="*/ 159 h 211"/>
                <a:gd name="T10" fmla="*/ 637 w 895"/>
                <a:gd name="T11" fmla="*/ 103 h 211"/>
                <a:gd name="T12" fmla="*/ 600 w 895"/>
                <a:gd name="T13" fmla="*/ 103 h 211"/>
                <a:gd name="T14" fmla="*/ 600 w 895"/>
                <a:gd name="T15" fmla="*/ 65 h 211"/>
                <a:gd name="T16" fmla="*/ 637 w 895"/>
                <a:gd name="T17" fmla="*/ 65 h 211"/>
                <a:gd name="T18" fmla="*/ 637 w 895"/>
                <a:gd name="T19" fmla="*/ 103 h 211"/>
                <a:gd name="T20" fmla="*/ 581 w 895"/>
                <a:gd name="T21" fmla="*/ 159 h 211"/>
                <a:gd name="T22" fmla="*/ 543 w 895"/>
                <a:gd name="T23" fmla="*/ 159 h 211"/>
                <a:gd name="T24" fmla="*/ 543 w 895"/>
                <a:gd name="T25" fmla="*/ 122 h 211"/>
                <a:gd name="T26" fmla="*/ 581 w 895"/>
                <a:gd name="T27" fmla="*/ 122 h 211"/>
                <a:gd name="T28" fmla="*/ 581 w 895"/>
                <a:gd name="T29" fmla="*/ 159 h 211"/>
                <a:gd name="T30" fmla="*/ 524 w 895"/>
                <a:gd name="T31" fmla="*/ 103 h 211"/>
                <a:gd name="T32" fmla="*/ 485 w 895"/>
                <a:gd name="T33" fmla="*/ 103 h 211"/>
                <a:gd name="T34" fmla="*/ 485 w 895"/>
                <a:gd name="T35" fmla="*/ 65 h 211"/>
                <a:gd name="T36" fmla="*/ 524 w 895"/>
                <a:gd name="T37" fmla="*/ 65 h 211"/>
                <a:gd name="T38" fmla="*/ 524 w 895"/>
                <a:gd name="T39" fmla="*/ 103 h 211"/>
                <a:gd name="T40" fmla="*/ 467 w 895"/>
                <a:gd name="T41" fmla="*/ 159 h 211"/>
                <a:gd name="T42" fmla="*/ 428 w 895"/>
                <a:gd name="T43" fmla="*/ 159 h 211"/>
                <a:gd name="T44" fmla="*/ 428 w 895"/>
                <a:gd name="T45" fmla="*/ 122 h 211"/>
                <a:gd name="T46" fmla="*/ 467 w 895"/>
                <a:gd name="T47" fmla="*/ 122 h 211"/>
                <a:gd name="T48" fmla="*/ 467 w 895"/>
                <a:gd name="T49" fmla="*/ 159 h 211"/>
                <a:gd name="T50" fmla="*/ 410 w 895"/>
                <a:gd name="T51" fmla="*/ 103 h 211"/>
                <a:gd name="T52" fmla="*/ 371 w 895"/>
                <a:gd name="T53" fmla="*/ 103 h 211"/>
                <a:gd name="T54" fmla="*/ 371 w 895"/>
                <a:gd name="T55" fmla="*/ 65 h 211"/>
                <a:gd name="T56" fmla="*/ 410 w 895"/>
                <a:gd name="T57" fmla="*/ 65 h 211"/>
                <a:gd name="T58" fmla="*/ 410 w 895"/>
                <a:gd name="T59" fmla="*/ 103 h 211"/>
                <a:gd name="T60" fmla="*/ 353 w 895"/>
                <a:gd name="T61" fmla="*/ 159 h 211"/>
                <a:gd name="T62" fmla="*/ 315 w 895"/>
                <a:gd name="T63" fmla="*/ 159 h 211"/>
                <a:gd name="T64" fmla="*/ 315 w 895"/>
                <a:gd name="T65" fmla="*/ 122 h 211"/>
                <a:gd name="T66" fmla="*/ 353 w 895"/>
                <a:gd name="T67" fmla="*/ 122 h 211"/>
                <a:gd name="T68" fmla="*/ 353 w 895"/>
                <a:gd name="T69" fmla="*/ 159 h 211"/>
                <a:gd name="T70" fmla="*/ 295 w 895"/>
                <a:gd name="T71" fmla="*/ 103 h 211"/>
                <a:gd name="T72" fmla="*/ 258 w 895"/>
                <a:gd name="T73" fmla="*/ 103 h 211"/>
                <a:gd name="T74" fmla="*/ 258 w 895"/>
                <a:gd name="T75" fmla="*/ 65 h 211"/>
                <a:gd name="T76" fmla="*/ 295 w 895"/>
                <a:gd name="T77" fmla="*/ 65 h 211"/>
                <a:gd name="T78" fmla="*/ 295 w 895"/>
                <a:gd name="T79" fmla="*/ 103 h 211"/>
                <a:gd name="T80" fmla="*/ 238 w 895"/>
                <a:gd name="T81" fmla="*/ 159 h 211"/>
                <a:gd name="T82" fmla="*/ 201 w 895"/>
                <a:gd name="T83" fmla="*/ 159 h 211"/>
                <a:gd name="T84" fmla="*/ 201 w 895"/>
                <a:gd name="T85" fmla="*/ 122 h 211"/>
                <a:gd name="T86" fmla="*/ 238 w 895"/>
                <a:gd name="T87" fmla="*/ 122 h 211"/>
                <a:gd name="T88" fmla="*/ 238 w 895"/>
                <a:gd name="T89" fmla="*/ 159 h 211"/>
                <a:gd name="T90" fmla="*/ 815 w 895"/>
                <a:gd name="T91" fmla="*/ 0 h 211"/>
                <a:gd name="T92" fmla="*/ 80 w 895"/>
                <a:gd name="T93" fmla="*/ 0 h 211"/>
                <a:gd name="T94" fmla="*/ 0 w 895"/>
                <a:gd name="T95" fmla="*/ 211 h 211"/>
                <a:gd name="T96" fmla="*/ 895 w 895"/>
                <a:gd name="T97" fmla="*/ 211 h 211"/>
                <a:gd name="T98" fmla="*/ 815 w 895"/>
                <a:gd name="T9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95" h="211">
                  <a:moveTo>
                    <a:pt x="694" y="159"/>
                  </a:moveTo>
                  <a:lnTo>
                    <a:pt x="657" y="159"/>
                  </a:lnTo>
                  <a:lnTo>
                    <a:pt x="657" y="122"/>
                  </a:lnTo>
                  <a:lnTo>
                    <a:pt x="694" y="122"/>
                  </a:lnTo>
                  <a:lnTo>
                    <a:pt x="694" y="159"/>
                  </a:lnTo>
                  <a:close/>
                  <a:moveTo>
                    <a:pt x="637" y="103"/>
                  </a:moveTo>
                  <a:lnTo>
                    <a:pt x="600" y="103"/>
                  </a:lnTo>
                  <a:lnTo>
                    <a:pt x="600" y="65"/>
                  </a:lnTo>
                  <a:lnTo>
                    <a:pt x="637" y="65"/>
                  </a:lnTo>
                  <a:lnTo>
                    <a:pt x="637" y="103"/>
                  </a:lnTo>
                  <a:close/>
                  <a:moveTo>
                    <a:pt x="581" y="159"/>
                  </a:moveTo>
                  <a:lnTo>
                    <a:pt x="543" y="159"/>
                  </a:lnTo>
                  <a:lnTo>
                    <a:pt x="543" y="122"/>
                  </a:lnTo>
                  <a:lnTo>
                    <a:pt x="581" y="122"/>
                  </a:lnTo>
                  <a:lnTo>
                    <a:pt x="581" y="159"/>
                  </a:lnTo>
                  <a:close/>
                  <a:moveTo>
                    <a:pt x="524" y="103"/>
                  </a:moveTo>
                  <a:lnTo>
                    <a:pt x="485" y="103"/>
                  </a:lnTo>
                  <a:lnTo>
                    <a:pt x="485" y="65"/>
                  </a:lnTo>
                  <a:lnTo>
                    <a:pt x="524" y="65"/>
                  </a:lnTo>
                  <a:lnTo>
                    <a:pt x="524" y="103"/>
                  </a:lnTo>
                  <a:close/>
                  <a:moveTo>
                    <a:pt x="467" y="159"/>
                  </a:moveTo>
                  <a:lnTo>
                    <a:pt x="428" y="159"/>
                  </a:lnTo>
                  <a:lnTo>
                    <a:pt x="428" y="122"/>
                  </a:lnTo>
                  <a:lnTo>
                    <a:pt x="467" y="122"/>
                  </a:lnTo>
                  <a:lnTo>
                    <a:pt x="467" y="159"/>
                  </a:lnTo>
                  <a:close/>
                  <a:moveTo>
                    <a:pt x="410" y="103"/>
                  </a:moveTo>
                  <a:lnTo>
                    <a:pt x="371" y="103"/>
                  </a:lnTo>
                  <a:lnTo>
                    <a:pt x="371" y="65"/>
                  </a:lnTo>
                  <a:lnTo>
                    <a:pt x="410" y="65"/>
                  </a:lnTo>
                  <a:lnTo>
                    <a:pt x="410" y="103"/>
                  </a:lnTo>
                  <a:close/>
                  <a:moveTo>
                    <a:pt x="353" y="159"/>
                  </a:moveTo>
                  <a:lnTo>
                    <a:pt x="315" y="159"/>
                  </a:lnTo>
                  <a:lnTo>
                    <a:pt x="315" y="122"/>
                  </a:lnTo>
                  <a:lnTo>
                    <a:pt x="353" y="122"/>
                  </a:lnTo>
                  <a:lnTo>
                    <a:pt x="353" y="159"/>
                  </a:lnTo>
                  <a:close/>
                  <a:moveTo>
                    <a:pt x="295" y="103"/>
                  </a:moveTo>
                  <a:lnTo>
                    <a:pt x="258" y="103"/>
                  </a:lnTo>
                  <a:lnTo>
                    <a:pt x="258" y="65"/>
                  </a:lnTo>
                  <a:lnTo>
                    <a:pt x="295" y="65"/>
                  </a:lnTo>
                  <a:lnTo>
                    <a:pt x="295" y="103"/>
                  </a:lnTo>
                  <a:close/>
                  <a:moveTo>
                    <a:pt x="238" y="159"/>
                  </a:moveTo>
                  <a:lnTo>
                    <a:pt x="201" y="159"/>
                  </a:lnTo>
                  <a:lnTo>
                    <a:pt x="201" y="122"/>
                  </a:lnTo>
                  <a:lnTo>
                    <a:pt x="238" y="122"/>
                  </a:lnTo>
                  <a:lnTo>
                    <a:pt x="238" y="159"/>
                  </a:lnTo>
                  <a:close/>
                  <a:moveTo>
                    <a:pt x="815" y="0"/>
                  </a:moveTo>
                  <a:lnTo>
                    <a:pt x="80" y="0"/>
                  </a:lnTo>
                  <a:lnTo>
                    <a:pt x="0" y="211"/>
                  </a:lnTo>
                  <a:lnTo>
                    <a:pt x="895" y="211"/>
                  </a:lnTo>
                  <a:lnTo>
                    <a:pt x="8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322">
              <a:extLst>
                <a:ext uri="{FF2B5EF4-FFF2-40B4-BE49-F238E27FC236}">
                  <a16:creationId xmlns:a16="http://schemas.microsoft.com/office/drawing/2014/main" id="{5E64CAF0-0E1E-4978-B131-81EF0ABB8D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800" y="1001713"/>
              <a:ext cx="287338" cy="57150"/>
            </a:xfrm>
            <a:custGeom>
              <a:avLst/>
              <a:gdLst>
                <a:gd name="T0" fmla="*/ 572 w 903"/>
                <a:gd name="T1" fmla="*/ 78 h 180"/>
                <a:gd name="T2" fmla="*/ 569 w 903"/>
                <a:gd name="T3" fmla="*/ 84 h 180"/>
                <a:gd name="T4" fmla="*/ 565 w 903"/>
                <a:gd name="T5" fmla="*/ 88 h 180"/>
                <a:gd name="T6" fmla="*/ 560 w 903"/>
                <a:gd name="T7" fmla="*/ 90 h 180"/>
                <a:gd name="T8" fmla="*/ 554 w 903"/>
                <a:gd name="T9" fmla="*/ 90 h 180"/>
                <a:gd name="T10" fmla="*/ 548 w 903"/>
                <a:gd name="T11" fmla="*/ 88 h 180"/>
                <a:gd name="T12" fmla="*/ 545 w 903"/>
                <a:gd name="T13" fmla="*/ 84 h 180"/>
                <a:gd name="T14" fmla="*/ 543 w 903"/>
                <a:gd name="T15" fmla="*/ 78 h 180"/>
                <a:gd name="T16" fmla="*/ 542 w 903"/>
                <a:gd name="T17" fmla="*/ 60 h 180"/>
                <a:gd name="T18" fmla="*/ 331 w 903"/>
                <a:gd name="T19" fmla="*/ 75 h 180"/>
                <a:gd name="T20" fmla="*/ 330 w 903"/>
                <a:gd name="T21" fmla="*/ 80 h 180"/>
                <a:gd name="T22" fmla="*/ 327 w 903"/>
                <a:gd name="T23" fmla="*/ 86 h 180"/>
                <a:gd name="T24" fmla="*/ 322 w 903"/>
                <a:gd name="T25" fmla="*/ 89 h 180"/>
                <a:gd name="T26" fmla="*/ 316 w 903"/>
                <a:gd name="T27" fmla="*/ 90 h 180"/>
                <a:gd name="T28" fmla="*/ 310 w 903"/>
                <a:gd name="T29" fmla="*/ 89 h 180"/>
                <a:gd name="T30" fmla="*/ 306 w 903"/>
                <a:gd name="T31" fmla="*/ 86 h 180"/>
                <a:gd name="T32" fmla="*/ 302 w 903"/>
                <a:gd name="T33" fmla="*/ 80 h 180"/>
                <a:gd name="T34" fmla="*/ 301 w 903"/>
                <a:gd name="T35" fmla="*/ 75 h 180"/>
                <a:gd name="T36" fmla="*/ 301 w 903"/>
                <a:gd name="T37" fmla="*/ 42 h 180"/>
                <a:gd name="T38" fmla="*/ 304 w 903"/>
                <a:gd name="T39" fmla="*/ 36 h 180"/>
                <a:gd name="T40" fmla="*/ 308 w 903"/>
                <a:gd name="T41" fmla="*/ 32 h 180"/>
                <a:gd name="T42" fmla="*/ 313 w 903"/>
                <a:gd name="T43" fmla="*/ 30 h 180"/>
                <a:gd name="T44" fmla="*/ 557 w 903"/>
                <a:gd name="T45" fmla="*/ 30 h 180"/>
                <a:gd name="T46" fmla="*/ 563 w 903"/>
                <a:gd name="T47" fmla="*/ 31 h 180"/>
                <a:gd name="T48" fmla="*/ 567 w 903"/>
                <a:gd name="T49" fmla="*/ 34 h 180"/>
                <a:gd name="T50" fmla="*/ 571 w 903"/>
                <a:gd name="T51" fmla="*/ 39 h 180"/>
                <a:gd name="T52" fmla="*/ 572 w 903"/>
                <a:gd name="T53" fmla="*/ 45 h 180"/>
                <a:gd name="T54" fmla="*/ 0 w 903"/>
                <a:gd name="T55" fmla="*/ 0 h 180"/>
                <a:gd name="T56" fmla="*/ 0 w 903"/>
                <a:gd name="T57" fmla="*/ 168 h 180"/>
                <a:gd name="T58" fmla="*/ 2 w 903"/>
                <a:gd name="T59" fmla="*/ 174 h 180"/>
                <a:gd name="T60" fmla="*/ 6 w 903"/>
                <a:gd name="T61" fmla="*/ 178 h 180"/>
                <a:gd name="T62" fmla="*/ 12 w 903"/>
                <a:gd name="T63" fmla="*/ 180 h 180"/>
                <a:gd name="T64" fmla="*/ 888 w 903"/>
                <a:gd name="T65" fmla="*/ 180 h 180"/>
                <a:gd name="T66" fmla="*/ 894 w 903"/>
                <a:gd name="T67" fmla="*/ 179 h 180"/>
                <a:gd name="T68" fmla="*/ 899 w 903"/>
                <a:gd name="T69" fmla="*/ 176 h 180"/>
                <a:gd name="T70" fmla="*/ 902 w 903"/>
                <a:gd name="T71" fmla="*/ 172 h 180"/>
                <a:gd name="T72" fmla="*/ 903 w 903"/>
                <a:gd name="T73" fmla="*/ 165 h 180"/>
                <a:gd name="T74" fmla="*/ 0 w 903"/>
                <a:gd name="T7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03" h="180">
                  <a:moveTo>
                    <a:pt x="572" y="75"/>
                  </a:moveTo>
                  <a:lnTo>
                    <a:pt x="572" y="78"/>
                  </a:lnTo>
                  <a:lnTo>
                    <a:pt x="571" y="80"/>
                  </a:lnTo>
                  <a:lnTo>
                    <a:pt x="569" y="84"/>
                  </a:lnTo>
                  <a:lnTo>
                    <a:pt x="567" y="86"/>
                  </a:lnTo>
                  <a:lnTo>
                    <a:pt x="565" y="88"/>
                  </a:lnTo>
                  <a:lnTo>
                    <a:pt x="563" y="89"/>
                  </a:lnTo>
                  <a:lnTo>
                    <a:pt x="560" y="90"/>
                  </a:lnTo>
                  <a:lnTo>
                    <a:pt x="557" y="90"/>
                  </a:lnTo>
                  <a:lnTo>
                    <a:pt x="554" y="90"/>
                  </a:lnTo>
                  <a:lnTo>
                    <a:pt x="551" y="89"/>
                  </a:lnTo>
                  <a:lnTo>
                    <a:pt x="548" y="88"/>
                  </a:lnTo>
                  <a:lnTo>
                    <a:pt x="546" y="86"/>
                  </a:lnTo>
                  <a:lnTo>
                    <a:pt x="545" y="84"/>
                  </a:lnTo>
                  <a:lnTo>
                    <a:pt x="543" y="80"/>
                  </a:lnTo>
                  <a:lnTo>
                    <a:pt x="543" y="78"/>
                  </a:lnTo>
                  <a:lnTo>
                    <a:pt x="542" y="75"/>
                  </a:lnTo>
                  <a:lnTo>
                    <a:pt x="542" y="60"/>
                  </a:lnTo>
                  <a:lnTo>
                    <a:pt x="331" y="60"/>
                  </a:lnTo>
                  <a:lnTo>
                    <a:pt x="331" y="75"/>
                  </a:lnTo>
                  <a:lnTo>
                    <a:pt x="331" y="78"/>
                  </a:lnTo>
                  <a:lnTo>
                    <a:pt x="330" y="80"/>
                  </a:lnTo>
                  <a:lnTo>
                    <a:pt x="328" y="84"/>
                  </a:lnTo>
                  <a:lnTo>
                    <a:pt x="327" y="86"/>
                  </a:lnTo>
                  <a:lnTo>
                    <a:pt x="325" y="88"/>
                  </a:lnTo>
                  <a:lnTo>
                    <a:pt x="322" y="89"/>
                  </a:lnTo>
                  <a:lnTo>
                    <a:pt x="320" y="90"/>
                  </a:lnTo>
                  <a:lnTo>
                    <a:pt x="316" y="90"/>
                  </a:lnTo>
                  <a:lnTo>
                    <a:pt x="313" y="90"/>
                  </a:lnTo>
                  <a:lnTo>
                    <a:pt x="310" y="89"/>
                  </a:lnTo>
                  <a:lnTo>
                    <a:pt x="308" y="88"/>
                  </a:lnTo>
                  <a:lnTo>
                    <a:pt x="306" y="86"/>
                  </a:lnTo>
                  <a:lnTo>
                    <a:pt x="304" y="84"/>
                  </a:lnTo>
                  <a:lnTo>
                    <a:pt x="302" y="80"/>
                  </a:lnTo>
                  <a:lnTo>
                    <a:pt x="301" y="78"/>
                  </a:lnTo>
                  <a:lnTo>
                    <a:pt x="301" y="75"/>
                  </a:lnTo>
                  <a:lnTo>
                    <a:pt x="301" y="45"/>
                  </a:lnTo>
                  <a:lnTo>
                    <a:pt x="301" y="42"/>
                  </a:lnTo>
                  <a:lnTo>
                    <a:pt x="302" y="39"/>
                  </a:lnTo>
                  <a:lnTo>
                    <a:pt x="304" y="36"/>
                  </a:lnTo>
                  <a:lnTo>
                    <a:pt x="306" y="34"/>
                  </a:lnTo>
                  <a:lnTo>
                    <a:pt x="308" y="32"/>
                  </a:lnTo>
                  <a:lnTo>
                    <a:pt x="310" y="31"/>
                  </a:lnTo>
                  <a:lnTo>
                    <a:pt x="313" y="30"/>
                  </a:lnTo>
                  <a:lnTo>
                    <a:pt x="316" y="30"/>
                  </a:lnTo>
                  <a:lnTo>
                    <a:pt x="557" y="30"/>
                  </a:lnTo>
                  <a:lnTo>
                    <a:pt x="560" y="30"/>
                  </a:lnTo>
                  <a:lnTo>
                    <a:pt x="563" y="31"/>
                  </a:lnTo>
                  <a:lnTo>
                    <a:pt x="565" y="32"/>
                  </a:lnTo>
                  <a:lnTo>
                    <a:pt x="567" y="34"/>
                  </a:lnTo>
                  <a:lnTo>
                    <a:pt x="569" y="36"/>
                  </a:lnTo>
                  <a:lnTo>
                    <a:pt x="571" y="39"/>
                  </a:lnTo>
                  <a:lnTo>
                    <a:pt x="572" y="42"/>
                  </a:lnTo>
                  <a:lnTo>
                    <a:pt x="572" y="45"/>
                  </a:lnTo>
                  <a:lnTo>
                    <a:pt x="572" y="75"/>
                  </a:lnTo>
                  <a:close/>
                  <a:moveTo>
                    <a:pt x="0" y="0"/>
                  </a:moveTo>
                  <a:lnTo>
                    <a:pt x="0" y="165"/>
                  </a:lnTo>
                  <a:lnTo>
                    <a:pt x="0" y="168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8"/>
                  </a:lnTo>
                  <a:lnTo>
                    <a:pt x="10" y="179"/>
                  </a:lnTo>
                  <a:lnTo>
                    <a:pt x="12" y="180"/>
                  </a:lnTo>
                  <a:lnTo>
                    <a:pt x="15" y="180"/>
                  </a:lnTo>
                  <a:lnTo>
                    <a:pt x="888" y="180"/>
                  </a:lnTo>
                  <a:lnTo>
                    <a:pt x="891" y="180"/>
                  </a:lnTo>
                  <a:lnTo>
                    <a:pt x="894" y="179"/>
                  </a:lnTo>
                  <a:lnTo>
                    <a:pt x="897" y="178"/>
                  </a:lnTo>
                  <a:lnTo>
                    <a:pt x="899" y="176"/>
                  </a:lnTo>
                  <a:lnTo>
                    <a:pt x="901" y="174"/>
                  </a:lnTo>
                  <a:lnTo>
                    <a:pt x="902" y="172"/>
                  </a:lnTo>
                  <a:lnTo>
                    <a:pt x="903" y="168"/>
                  </a:lnTo>
                  <a:lnTo>
                    <a:pt x="903" y="165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323">
              <a:extLst>
                <a:ext uri="{FF2B5EF4-FFF2-40B4-BE49-F238E27FC236}">
                  <a16:creationId xmlns:a16="http://schemas.microsoft.com/office/drawing/2014/main" id="{4F8D27CA-EA67-412D-83F2-F661D003B3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375" y="771525"/>
              <a:ext cx="230188" cy="142875"/>
            </a:xfrm>
            <a:custGeom>
              <a:avLst/>
              <a:gdLst>
                <a:gd name="T0" fmla="*/ 448 w 723"/>
                <a:gd name="T1" fmla="*/ 361 h 452"/>
                <a:gd name="T2" fmla="*/ 441 w 723"/>
                <a:gd name="T3" fmla="*/ 357 h 452"/>
                <a:gd name="T4" fmla="*/ 438 w 723"/>
                <a:gd name="T5" fmla="*/ 350 h 452"/>
                <a:gd name="T6" fmla="*/ 438 w 723"/>
                <a:gd name="T7" fmla="*/ 340 h 452"/>
                <a:gd name="T8" fmla="*/ 443 w 723"/>
                <a:gd name="T9" fmla="*/ 334 h 452"/>
                <a:gd name="T10" fmla="*/ 452 w 723"/>
                <a:gd name="T11" fmla="*/ 331 h 452"/>
                <a:gd name="T12" fmla="*/ 608 w 723"/>
                <a:gd name="T13" fmla="*/ 333 h 452"/>
                <a:gd name="T14" fmla="*/ 615 w 723"/>
                <a:gd name="T15" fmla="*/ 338 h 452"/>
                <a:gd name="T16" fmla="*/ 618 w 723"/>
                <a:gd name="T17" fmla="*/ 346 h 452"/>
                <a:gd name="T18" fmla="*/ 615 w 723"/>
                <a:gd name="T19" fmla="*/ 355 h 452"/>
                <a:gd name="T20" fmla="*/ 608 w 723"/>
                <a:gd name="T21" fmla="*/ 360 h 452"/>
                <a:gd name="T22" fmla="*/ 331 w 723"/>
                <a:gd name="T23" fmla="*/ 407 h 452"/>
                <a:gd name="T24" fmla="*/ 329 w 723"/>
                <a:gd name="T25" fmla="*/ 415 h 452"/>
                <a:gd name="T26" fmla="*/ 322 w 723"/>
                <a:gd name="T27" fmla="*/ 420 h 452"/>
                <a:gd name="T28" fmla="*/ 105 w 723"/>
                <a:gd name="T29" fmla="*/ 422 h 452"/>
                <a:gd name="T30" fmla="*/ 98 w 723"/>
                <a:gd name="T31" fmla="*/ 419 h 452"/>
                <a:gd name="T32" fmla="*/ 92 w 723"/>
                <a:gd name="T33" fmla="*/ 412 h 452"/>
                <a:gd name="T34" fmla="*/ 90 w 723"/>
                <a:gd name="T35" fmla="*/ 286 h 452"/>
                <a:gd name="T36" fmla="*/ 93 w 723"/>
                <a:gd name="T37" fmla="*/ 278 h 452"/>
                <a:gd name="T38" fmla="*/ 100 w 723"/>
                <a:gd name="T39" fmla="*/ 272 h 452"/>
                <a:gd name="T40" fmla="*/ 316 w 723"/>
                <a:gd name="T41" fmla="*/ 271 h 452"/>
                <a:gd name="T42" fmla="*/ 325 w 723"/>
                <a:gd name="T43" fmla="*/ 274 h 452"/>
                <a:gd name="T44" fmla="*/ 330 w 723"/>
                <a:gd name="T45" fmla="*/ 280 h 452"/>
                <a:gd name="T46" fmla="*/ 331 w 723"/>
                <a:gd name="T47" fmla="*/ 407 h 452"/>
                <a:gd name="T48" fmla="*/ 722 w 723"/>
                <a:gd name="T49" fmla="*/ 220 h 452"/>
                <a:gd name="T50" fmla="*/ 717 w 723"/>
                <a:gd name="T51" fmla="*/ 213 h 452"/>
                <a:gd name="T52" fmla="*/ 708 w 723"/>
                <a:gd name="T53" fmla="*/ 211 h 452"/>
                <a:gd name="T54" fmla="*/ 678 w 723"/>
                <a:gd name="T55" fmla="*/ 150 h 452"/>
                <a:gd name="T56" fmla="*/ 703 w 723"/>
                <a:gd name="T57" fmla="*/ 143 h 452"/>
                <a:gd name="T58" fmla="*/ 720 w 723"/>
                <a:gd name="T59" fmla="*/ 123 h 452"/>
                <a:gd name="T60" fmla="*/ 723 w 723"/>
                <a:gd name="T61" fmla="*/ 45 h 452"/>
                <a:gd name="T62" fmla="*/ 715 w 723"/>
                <a:gd name="T63" fmla="*/ 20 h 452"/>
                <a:gd name="T64" fmla="*/ 695 w 723"/>
                <a:gd name="T65" fmla="*/ 3 h 452"/>
                <a:gd name="T66" fmla="*/ 497 w 723"/>
                <a:gd name="T67" fmla="*/ 0 h 452"/>
                <a:gd name="T68" fmla="*/ 472 w 723"/>
                <a:gd name="T69" fmla="*/ 8 h 452"/>
                <a:gd name="T70" fmla="*/ 456 w 723"/>
                <a:gd name="T71" fmla="*/ 28 h 452"/>
                <a:gd name="T72" fmla="*/ 452 w 723"/>
                <a:gd name="T73" fmla="*/ 105 h 452"/>
                <a:gd name="T74" fmla="*/ 460 w 723"/>
                <a:gd name="T75" fmla="*/ 131 h 452"/>
                <a:gd name="T76" fmla="*/ 479 w 723"/>
                <a:gd name="T77" fmla="*/ 147 h 452"/>
                <a:gd name="T78" fmla="*/ 573 w 723"/>
                <a:gd name="T79" fmla="*/ 150 h 452"/>
                <a:gd name="T80" fmla="*/ 301 w 723"/>
                <a:gd name="T81" fmla="*/ 75 h 452"/>
                <a:gd name="T82" fmla="*/ 297 w 723"/>
                <a:gd name="T83" fmla="*/ 65 h 452"/>
                <a:gd name="T84" fmla="*/ 288 w 723"/>
                <a:gd name="T85" fmla="*/ 60 h 452"/>
                <a:gd name="T86" fmla="*/ 130 w 723"/>
                <a:gd name="T87" fmla="*/ 121 h 452"/>
                <a:gd name="T88" fmla="*/ 121 w 723"/>
                <a:gd name="T89" fmla="*/ 131 h 452"/>
                <a:gd name="T90" fmla="*/ 15 w 723"/>
                <a:gd name="T91" fmla="*/ 211 h 452"/>
                <a:gd name="T92" fmla="*/ 7 w 723"/>
                <a:gd name="T93" fmla="*/ 213 h 452"/>
                <a:gd name="T94" fmla="*/ 1 w 723"/>
                <a:gd name="T95" fmla="*/ 220 h 452"/>
                <a:gd name="T96" fmla="*/ 0 w 723"/>
                <a:gd name="T97" fmla="*/ 45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3" h="452">
                  <a:moveTo>
                    <a:pt x="603" y="361"/>
                  </a:moveTo>
                  <a:lnTo>
                    <a:pt x="452" y="361"/>
                  </a:lnTo>
                  <a:lnTo>
                    <a:pt x="448" y="361"/>
                  </a:lnTo>
                  <a:lnTo>
                    <a:pt x="446" y="360"/>
                  </a:lnTo>
                  <a:lnTo>
                    <a:pt x="443" y="359"/>
                  </a:lnTo>
                  <a:lnTo>
                    <a:pt x="441" y="357"/>
                  </a:lnTo>
                  <a:lnTo>
                    <a:pt x="440" y="355"/>
                  </a:lnTo>
                  <a:lnTo>
                    <a:pt x="438" y="352"/>
                  </a:lnTo>
                  <a:lnTo>
                    <a:pt x="438" y="350"/>
                  </a:lnTo>
                  <a:lnTo>
                    <a:pt x="437" y="346"/>
                  </a:lnTo>
                  <a:lnTo>
                    <a:pt x="438" y="343"/>
                  </a:lnTo>
                  <a:lnTo>
                    <a:pt x="438" y="340"/>
                  </a:lnTo>
                  <a:lnTo>
                    <a:pt x="440" y="338"/>
                  </a:lnTo>
                  <a:lnTo>
                    <a:pt x="441" y="336"/>
                  </a:lnTo>
                  <a:lnTo>
                    <a:pt x="443" y="334"/>
                  </a:lnTo>
                  <a:lnTo>
                    <a:pt x="446" y="333"/>
                  </a:lnTo>
                  <a:lnTo>
                    <a:pt x="448" y="331"/>
                  </a:lnTo>
                  <a:lnTo>
                    <a:pt x="452" y="331"/>
                  </a:lnTo>
                  <a:lnTo>
                    <a:pt x="603" y="331"/>
                  </a:lnTo>
                  <a:lnTo>
                    <a:pt x="605" y="331"/>
                  </a:lnTo>
                  <a:lnTo>
                    <a:pt x="608" y="333"/>
                  </a:lnTo>
                  <a:lnTo>
                    <a:pt x="610" y="334"/>
                  </a:lnTo>
                  <a:lnTo>
                    <a:pt x="614" y="336"/>
                  </a:lnTo>
                  <a:lnTo>
                    <a:pt x="615" y="338"/>
                  </a:lnTo>
                  <a:lnTo>
                    <a:pt x="617" y="340"/>
                  </a:lnTo>
                  <a:lnTo>
                    <a:pt x="617" y="343"/>
                  </a:lnTo>
                  <a:lnTo>
                    <a:pt x="618" y="346"/>
                  </a:lnTo>
                  <a:lnTo>
                    <a:pt x="617" y="350"/>
                  </a:lnTo>
                  <a:lnTo>
                    <a:pt x="617" y="352"/>
                  </a:lnTo>
                  <a:lnTo>
                    <a:pt x="615" y="355"/>
                  </a:lnTo>
                  <a:lnTo>
                    <a:pt x="614" y="357"/>
                  </a:lnTo>
                  <a:lnTo>
                    <a:pt x="610" y="359"/>
                  </a:lnTo>
                  <a:lnTo>
                    <a:pt x="608" y="360"/>
                  </a:lnTo>
                  <a:lnTo>
                    <a:pt x="605" y="361"/>
                  </a:lnTo>
                  <a:lnTo>
                    <a:pt x="603" y="361"/>
                  </a:lnTo>
                  <a:close/>
                  <a:moveTo>
                    <a:pt x="331" y="407"/>
                  </a:moveTo>
                  <a:lnTo>
                    <a:pt x="331" y="410"/>
                  </a:lnTo>
                  <a:lnTo>
                    <a:pt x="330" y="412"/>
                  </a:lnTo>
                  <a:lnTo>
                    <a:pt x="329" y="415"/>
                  </a:lnTo>
                  <a:lnTo>
                    <a:pt x="327" y="417"/>
                  </a:lnTo>
                  <a:lnTo>
                    <a:pt x="325" y="419"/>
                  </a:lnTo>
                  <a:lnTo>
                    <a:pt x="322" y="420"/>
                  </a:lnTo>
                  <a:lnTo>
                    <a:pt x="320" y="422"/>
                  </a:lnTo>
                  <a:lnTo>
                    <a:pt x="316" y="422"/>
                  </a:lnTo>
                  <a:lnTo>
                    <a:pt x="105" y="422"/>
                  </a:lnTo>
                  <a:lnTo>
                    <a:pt x="103" y="422"/>
                  </a:lnTo>
                  <a:lnTo>
                    <a:pt x="100" y="420"/>
                  </a:lnTo>
                  <a:lnTo>
                    <a:pt x="98" y="419"/>
                  </a:lnTo>
                  <a:lnTo>
                    <a:pt x="96" y="417"/>
                  </a:lnTo>
                  <a:lnTo>
                    <a:pt x="93" y="415"/>
                  </a:lnTo>
                  <a:lnTo>
                    <a:pt x="92" y="412"/>
                  </a:lnTo>
                  <a:lnTo>
                    <a:pt x="91" y="410"/>
                  </a:lnTo>
                  <a:lnTo>
                    <a:pt x="90" y="407"/>
                  </a:lnTo>
                  <a:lnTo>
                    <a:pt x="90" y="286"/>
                  </a:lnTo>
                  <a:lnTo>
                    <a:pt x="91" y="283"/>
                  </a:lnTo>
                  <a:lnTo>
                    <a:pt x="92" y="280"/>
                  </a:lnTo>
                  <a:lnTo>
                    <a:pt x="93" y="278"/>
                  </a:lnTo>
                  <a:lnTo>
                    <a:pt x="96" y="276"/>
                  </a:lnTo>
                  <a:lnTo>
                    <a:pt x="98" y="274"/>
                  </a:lnTo>
                  <a:lnTo>
                    <a:pt x="100" y="272"/>
                  </a:lnTo>
                  <a:lnTo>
                    <a:pt x="103" y="271"/>
                  </a:lnTo>
                  <a:lnTo>
                    <a:pt x="105" y="271"/>
                  </a:lnTo>
                  <a:lnTo>
                    <a:pt x="316" y="271"/>
                  </a:lnTo>
                  <a:lnTo>
                    <a:pt x="320" y="271"/>
                  </a:lnTo>
                  <a:lnTo>
                    <a:pt x="322" y="272"/>
                  </a:lnTo>
                  <a:lnTo>
                    <a:pt x="325" y="274"/>
                  </a:lnTo>
                  <a:lnTo>
                    <a:pt x="327" y="276"/>
                  </a:lnTo>
                  <a:lnTo>
                    <a:pt x="329" y="278"/>
                  </a:lnTo>
                  <a:lnTo>
                    <a:pt x="330" y="280"/>
                  </a:lnTo>
                  <a:lnTo>
                    <a:pt x="331" y="283"/>
                  </a:lnTo>
                  <a:lnTo>
                    <a:pt x="331" y="286"/>
                  </a:lnTo>
                  <a:lnTo>
                    <a:pt x="331" y="407"/>
                  </a:lnTo>
                  <a:close/>
                  <a:moveTo>
                    <a:pt x="723" y="226"/>
                  </a:moveTo>
                  <a:lnTo>
                    <a:pt x="723" y="223"/>
                  </a:lnTo>
                  <a:lnTo>
                    <a:pt x="722" y="220"/>
                  </a:lnTo>
                  <a:lnTo>
                    <a:pt x="721" y="218"/>
                  </a:lnTo>
                  <a:lnTo>
                    <a:pt x="719" y="216"/>
                  </a:lnTo>
                  <a:lnTo>
                    <a:pt x="717" y="213"/>
                  </a:lnTo>
                  <a:lnTo>
                    <a:pt x="713" y="212"/>
                  </a:lnTo>
                  <a:lnTo>
                    <a:pt x="711" y="211"/>
                  </a:lnTo>
                  <a:lnTo>
                    <a:pt x="708" y="211"/>
                  </a:lnTo>
                  <a:lnTo>
                    <a:pt x="603" y="211"/>
                  </a:lnTo>
                  <a:lnTo>
                    <a:pt x="603" y="150"/>
                  </a:lnTo>
                  <a:lnTo>
                    <a:pt x="678" y="150"/>
                  </a:lnTo>
                  <a:lnTo>
                    <a:pt x="686" y="149"/>
                  </a:lnTo>
                  <a:lnTo>
                    <a:pt x="695" y="147"/>
                  </a:lnTo>
                  <a:lnTo>
                    <a:pt x="703" y="143"/>
                  </a:lnTo>
                  <a:lnTo>
                    <a:pt x="710" y="137"/>
                  </a:lnTo>
                  <a:lnTo>
                    <a:pt x="715" y="131"/>
                  </a:lnTo>
                  <a:lnTo>
                    <a:pt x="720" y="123"/>
                  </a:lnTo>
                  <a:lnTo>
                    <a:pt x="722" y="115"/>
                  </a:lnTo>
                  <a:lnTo>
                    <a:pt x="723" y="105"/>
                  </a:lnTo>
                  <a:lnTo>
                    <a:pt x="723" y="45"/>
                  </a:lnTo>
                  <a:lnTo>
                    <a:pt x="722" y="36"/>
                  </a:lnTo>
                  <a:lnTo>
                    <a:pt x="720" y="28"/>
                  </a:lnTo>
                  <a:lnTo>
                    <a:pt x="715" y="20"/>
                  </a:lnTo>
                  <a:lnTo>
                    <a:pt x="710" y="13"/>
                  </a:lnTo>
                  <a:lnTo>
                    <a:pt x="703" y="8"/>
                  </a:lnTo>
                  <a:lnTo>
                    <a:pt x="695" y="3"/>
                  </a:lnTo>
                  <a:lnTo>
                    <a:pt x="686" y="1"/>
                  </a:lnTo>
                  <a:lnTo>
                    <a:pt x="678" y="0"/>
                  </a:lnTo>
                  <a:lnTo>
                    <a:pt x="497" y="0"/>
                  </a:lnTo>
                  <a:lnTo>
                    <a:pt x="488" y="1"/>
                  </a:lnTo>
                  <a:lnTo>
                    <a:pt x="479" y="3"/>
                  </a:lnTo>
                  <a:lnTo>
                    <a:pt x="472" y="8"/>
                  </a:lnTo>
                  <a:lnTo>
                    <a:pt x="466" y="13"/>
                  </a:lnTo>
                  <a:lnTo>
                    <a:pt x="460" y="20"/>
                  </a:lnTo>
                  <a:lnTo>
                    <a:pt x="456" y="28"/>
                  </a:lnTo>
                  <a:lnTo>
                    <a:pt x="453" y="36"/>
                  </a:lnTo>
                  <a:lnTo>
                    <a:pt x="452" y="45"/>
                  </a:lnTo>
                  <a:lnTo>
                    <a:pt x="452" y="105"/>
                  </a:lnTo>
                  <a:lnTo>
                    <a:pt x="453" y="115"/>
                  </a:lnTo>
                  <a:lnTo>
                    <a:pt x="456" y="123"/>
                  </a:lnTo>
                  <a:lnTo>
                    <a:pt x="460" y="131"/>
                  </a:lnTo>
                  <a:lnTo>
                    <a:pt x="466" y="137"/>
                  </a:lnTo>
                  <a:lnTo>
                    <a:pt x="472" y="143"/>
                  </a:lnTo>
                  <a:lnTo>
                    <a:pt x="479" y="147"/>
                  </a:lnTo>
                  <a:lnTo>
                    <a:pt x="488" y="150"/>
                  </a:lnTo>
                  <a:lnTo>
                    <a:pt x="497" y="150"/>
                  </a:lnTo>
                  <a:lnTo>
                    <a:pt x="573" y="150"/>
                  </a:lnTo>
                  <a:lnTo>
                    <a:pt x="573" y="211"/>
                  </a:lnTo>
                  <a:lnTo>
                    <a:pt x="301" y="211"/>
                  </a:lnTo>
                  <a:lnTo>
                    <a:pt x="301" y="75"/>
                  </a:lnTo>
                  <a:lnTo>
                    <a:pt x="301" y="72"/>
                  </a:lnTo>
                  <a:lnTo>
                    <a:pt x="299" y="69"/>
                  </a:lnTo>
                  <a:lnTo>
                    <a:pt x="297" y="65"/>
                  </a:lnTo>
                  <a:lnTo>
                    <a:pt x="295" y="63"/>
                  </a:lnTo>
                  <a:lnTo>
                    <a:pt x="292" y="61"/>
                  </a:lnTo>
                  <a:lnTo>
                    <a:pt x="288" y="60"/>
                  </a:lnTo>
                  <a:lnTo>
                    <a:pt x="284" y="60"/>
                  </a:lnTo>
                  <a:lnTo>
                    <a:pt x="281" y="61"/>
                  </a:lnTo>
                  <a:lnTo>
                    <a:pt x="130" y="121"/>
                  </a:lnTo>
                  <a:lnTo>
                    <a:pt x="127" y="123"/>
                  </a:lnTo>
                  <a:lnTo>
                    <a:pt x="123" y="128"/>
                  </a:lnTo>
                  <a:lnTo>
                    <a:pt x="121" y="131"/>
                  </a:lnTo>
                  <a:lnTo>
                    <a:pt x="121" y="135"/>
                  </a:lnTo>
                  <a:lnTo>
                    <a:pt x="121" y="211"/>
                  </a:lnTo>
                  <a:lnTo>
                    <a:pt x="15" y="211"/>
                  </a:lnTo>
                  <a:lnTo>
                    <a:pt x="12" y="211"/>
                  </a:lnTo>
                  <a:lnTo>
                    <a:pt x="10" y="212"/>
                  </a:lnTo>
                  <a:lnTo>
                    <a:pt x="7" y="213"/>
                  </a:lnTo>
                  <a:lnTo>
                    <a:pt x="4" y="216"/>
                  </a:lnTo>
                  <a:lnTo>
                    <a:pt x="3" y="218"/>
                  </a:lnTo>
                  <a:lnTo>
                    <a:pt x="1" y="220"/>
                  </a:lnTo>
                  <a:lnTo>
                    <a:pt x="1" y="223"/>
                  </a:lnTo>
                  <a:lnTo>
                    <a:pt x="0" y="226"/>
                  </a:lnTo>
                  <a:lnTo>
                    <a:pt x="0" y="452"/>
                  </a:lnTo>
                  <a:lnTo>
                    <a:pt x="723" y="452"/>
                  </a:lnTo>
                  <a:lnTo>
                    <a:pt x="723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64E23882-97E3-4B34-BBE0-6959274930AF}"/>
              </a:ext>
            </a:extLst>
          </p:cNvPr>
          <p:cNvSpPr/>
          <p:nvPr/>
        </p:nvSpPr>
        <p:spPr>
          <a:xfrm>
            <a:off x="10598852" y="1827649"/>
            <a:ext cx="1200971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</a:rPr>
              <a:t>$704.78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76948FB-CC34-4B03-88DC-8401A5A57F4D}"/>
              </a:ext>
            </a:extLst>
          </p:cNvPr>
          <p:cNvSpPr/>
          <p:nvPr/>
        </p:nvSpPr>
        <p:spPr>
          <a:xfrm>
            <a:off x="10885423" y="2580055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$191.01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6E0B43-CBC1-4B75-A350-E61BB761761E}"/>
              </a:ext>
            </a:extLst>
          </p:cNvPr>
          <p:cNvSpPr/>
          <p:nvPr/>
        </p:nvSpPr>
        <p:spPr>
          <a:xfrm>
            <a:off x="10885423" y="2994209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$189.31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4B4557E-2EE3-41E0-8A59-E60F50BDB6EC}"/>
              </a:ext>
            </a:extLst>
          </p:cNvPr>
          <p:cNvSpPr/>
          <p:nvPr/>
        </p:nvSpPr>
        <p:spPr>
          <a:xfrm>
            <a:off x="10885423" y="3412943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$186.54</a:t>
            </a:r>
          </a:p>
        </p:txBody>
      </p:sp>
      <p:sp>
        <p:nvSpPr>
          <p:cNvPr id="194" name="Freeform 154" descr="This is the logo for Facebook.">
            <a:extLst>
              <a:ext uri="{FF2B5EF4-FFF2-40B4-BE49-F238E27FC236}">
                <a16:creationId xmlns:a16="http://schemas.microsoft.com/office/drawing/2014/main" id="{BA54671E-ACFD-4428-B4B7-A37E5BA61CB3}"/>
              </a:ext>
            </a:extLst>
          </p:cNvPr>
          <p:cNvSpPr>
            <a:spLocks/>
          </p:cNvSpPr>
          <p:nvPr/>
        </p:nvSpPr>
        <p:spPr bwMode="auto">
          <a:xfrm>
            <a:off x="8689204" y="4222451"/>
            <a:ext cx="138355" cy="258819"/>
          </a:xfrm>
          <a:custGeom>
            <a:avLst/>
            <a:gdLst>
              <a:gd name="T0" fmla="*/ 49 w 49"/>
              <a:gd name="T1" fmla="*/ 28 h 92"/>
              <a:gd name="T2" fmla="*/ 32 w 49"/>
              <a:gd name="T3" fmla="*/ 28 h 92"/>
              <a:gd name="T4" fmla="*/ 32 w 49"/>
              <a:gd name="T5" fmla="*/ 20 h 92"/>
              <a:gd name="T6" fmla="*/ 36 w 49"/>
              <a:gd name="T7" fmla="*/ 16 h 92"/>
              <a:gd name="T8" fmla="*/ 48 w 49"/>
              <a:gd name="T9" fmla="*/ 16 h 92"/>
              <a:gd name="T10" fmla="*/ 48 w 49"/>
              <a:gd name="T11" fmla="*/ 0 h 92"/>
              <a:gd name="T12" fmla="*/ 31 w 49"/>
              <a:gd name="T13" fmla="*/ 0 h 92"/>
              <a:gd name="T14" fmla="*/ 12 w 49"/>
              <a:gd name="T15" fmla="*/ 19 h 92"/>
              <a:gd name="T16" fmla="*/ 12 w 49"/>
              <a:gd name="T17" fmla="*/ 28 h 92"/>
              <a:gd name="T18" fmla="*/ 0 w 49"/>
              <a:gd name="T19" fmla="*/ 28 h 92"/>
              <a:gd name="T20" fmla="*/ 0 w 49"/>
              <a:gd name="T21" fmla="*/ 44 h 92"/>
              <a:gd name="T22" fmla="*/ 12 w 49"/>
              <a:gd name="T23" fmla="*/ 44 h 92"/>
              <a:gd name="T24" fmla="*/ 12 w 49"/>
              <a:gd name="T25" fmla="*/ 92 h 92"/>
              <a:gd name="T26" fmla="*/ 32 w 49"/>
              <a:gd name="T27" fmla="*/ 92 h 92"/>
              <a:gd name="T28" fmla="*/ 32 w 49"/>
              <a:gd name="T29" fmla="*/ 44 h 92"/>
              <a:gd name="T30" fmla="*/ 47 w 49"/>
              <a:gd name="T31" fmla="*/ 44 h 92"/>
              <a:gd name="T32" fmla="*/ 49 w 49"/>
              <a:gd name="T33" fmla="*/ 2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9" h="92">
                <a:moveTo>
                  <a:pt x="49" y="28"/>
                </a:moveTo>
                <a:cubicBezTo>
                  <a:pt x="32" y="28"/>
                  <a:pt x="32" y="28"/>
                  <a:pt x="32" y="28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17"/>
                  <a:pt x="34" y="16"/>
                  <a:pt x="36" y="16"/>
                </a:cubicBezTo>
                <a:cubicBezTo>
                  <a:pt x="38" y="16"/>
                  <a:pt x="48" y="16"/>
                  <a:pt x="48" y="16"/>
                </a:cubicBezTo>
                <a:cubicBezTo>
                  <a:pt x="48" y="0"/>
                  <a:pt x="48" y="0"/>
                  <a:pt x="48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15" y="0"/>
                  <a:pt x="12" y="12"/>
                  <a:pt x="12" y="19"/>
                </a:cubicBezTo>
                <a:cubicBezTo>
                  <a:pt x="12" y="28"/>
                  <a:pt x="12" y="28"/>
                  <a:pt x="12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44"/>
                  <a:pt x="0" y="44"/>
                  <a:pt x="0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65"/>
                  <a:pt x="12" y="92"/>
                  <a:pt x="12" y="92"/>
                </a:cubicBezTo>
                <a:cubicBezTo>
                  <a:pt x="32" y="92"/>
                  <a:pt x="32" y="92"/>
                  <a:pt x="32" y="92"/>
                </a:cubicBezTo>
                <a:cubicBezTo>
                  <a:pt x="32" y="92"/>
                  <a:pt x="32" y="64"/>
                  <a:pt x="32" y="44"/>
                </a:cubicBezTo>
                <a:cubicBezTo>
                  <a:pt x="47" y="44"/>
                  <a:pt x="47" y="44"/>
                  <a:pt x="47" y="44"/>
                </a:cubicBezTo>
                <a:lnTo>
                  <a:pt x="49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162" descr="This is the logo for Twitter.">
            <a:extLst>
              <a:ext uri="{FF2B5EF4-FFF2-40B4-BE49-F238E27FC236}">
                <a16:creationId xmlns:a16="http://schemas.microsoft.com/office/drawing/2014/main" id="{8AD2DF00-0982-4B28-B4A0-DF7B4B6DA358}"/>
              </a:ext>
            </a:extLst>
          </p:cNvPr>
          <p:cNvSpPr>
            <a:spLocks/>
          </p:cNvSpPr>
          <p:nvPr/>
        </p:nvSpPr>
        <p:spPr bwMode="auto">
          <a:xfrm>
            <a:off x="8631357" y="5066778"/>
            <a:ext cx="254048" cy="202761"/>
          </a:xfrm>
          <a:custGeom>
            <a:avLst/>
            <a:gdLst>
              <a:gd name="T0" fmla="*/ 90 w 90"/>
              <a:gd name="T1" fmla="*/ 9 h 72"/>
              <a:gd name="T2" fmla="*/ 81 w 90"/>
              <a:gd name="T3" fmla="*/ 9 h 72"/>
              <a:gd name="T4" fmla="*/ 86 w 90"/>
              <a:gd name="T5" fmla="*/ 1 h 72"/>
              <a:gd name="T6" fmla="*/ 75 w 90"/>
              <a:gd name="T7" fmla="*/ 6 h 72"/>
              <a:gd name="T8" fmla="*/ 61 w 90"/>
              <a:gd name="T9" fmla="*/ 0 h 72"/>
              <a:gd name="T10" fmla="*/ 43 w 90"/>
              <a:gd name="T11" fmla="*/ 18 h 72"/>
              <a:gd name="T12" fmla="*/ 44 w 90"/>
              <a:gd name="T13" fmla="*/ 22 h 72"/>
              <a:gd name="T14" fmla="*/ 6 w 90"/>
              <a:gd name="T15" fmla="*/ 3 h 72"/>
              <a:gd name="T16" fmla="*/ 4 w 90"/>
              <a:gd name="T17" fmla="*/ 12 h 72"/>
              <a:gd name="T18" fmla="*/ 12 w 90"/>
              <a:gd name="T19" fmla="*/ 28 h 72"/>
              <a:gd name="T20" fmla="*/ 4 w 90"/>
              <a:gd name="T21" fmla="*/ 25 h 72"/>
              <a:gd name="T22" fmla="*/ 4 w 90"/>
              <a:gd name="T23" fmla="*/ 26 h 72"/>
              <a:gd name="T24" fmla="*/ 18 w 90"/>
              <a:gd name="T25" fmla="*/ 43 h 72"/>
              <a:gd name="T26" fmla="*/ 10 w 90"/>
              <a:gd name="T27" fmla="*/ 44 h 72"/>
              <a:gd name="T28" fmla="*/ 27 w 90"/>
              <a:gd name="T29" fmla="*/ 56 h 72"/>
              <a:gd name="T30" fmla="*/ 0 w 90"/>
              <a:gd name="T31" fmla="*/ 64 h 72"/>
              <a:gd name="T32" fmla="*/ 28 w 90"/>
              <a:gd name="T33" fmla="*/ 72 h 72"/>
              <a:gd name="T34" fmla="*/ 80 w 90"/>
              <a:gd name="T35" fmla="*/ 20 h 72"/>
              <a:gd name="T36" fmla="*/ 80 w 90"/>
              <a:gd name="T37" fmla="*/ 18 h 72"/>
              <a:gd name="T38" fmla="*/ 90 w 90"/>
              <a:gd name="T39" fmla="*/ 9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0" h="72">
                <a:moveTo>
                  <a:pt x="90" y="9"/>
                </a:moveTo>
                <a:cubicBezTo>
                  <a:pt x="87" y="11"/>
                  <a:pt x="84" y="11"/>
                  <a:pt x="81" y="9"/>
                </a:cubicBezTo>
                <a:cubicBezTo>
                  <a:pt x="85" y="7"/>
                  <a:pt x="85" y="6"/>
                  <a:pt x="86" y="1"/>
                </a:cubicBezTo>
                <a:cubicBezTo>
                  <a:pt x="83" y="3"/>
                  <a:pt x="79" y="5"/>
                  <a:pt x="75" y="6"/>
                </a:cubicBezTo>
                <a:cubicBezTo>
                  <a:pt x="71" y="2"/>
                  <a:pt x="67" y="0"/>
                  <a:pt x="61" y="0"/>
                </a:cubicBezTo>
                <a:cubicBezTo>
                  <a:pt x="51" y="0"/>
                  <a:pt x="43" y="8"/>
                  <a:pt x="43" y="18"/>
                </a:cubicBezTo>
                <a:cubicBezTo>
                  <a:pt x="43" y="20"/>
                  <a:pt x="43" y="21"/>
                  <a:pt x="44" y="22"/>
                </a:cubicBezTo>
                <a:cubicBezTo>
                  <a:pt x="29" y="22"/>
                  <a:pt x="15" y="14"/>
                  <a:pt x="6" y="3"/>
                </a:cubicBezTo>
                <a:cubicBezTo>
                  <a:pt x="5" y="6"/>
                  <a:pt x="4" y="9"/>
                  <a:pt x="4" y="12"/>
                </a:cubicBezTo>
                <a:cubicBezTo>
                  <a:pt x="4" y="19"/>
                  <a:pt x="7" y="24"/>
                  <a:pt x="12" y="28"/>
                </a:cubicBezTo>
                <a:cubicBezTo>
                  <a:pt x="9" y="27"/>
                  <a:pt x="6" y="27"/>
                  <a:pt x="4" y="25"/>
                </a:cubicBezTo>
                <a:cubicBezTo>
                  <a:pt x="4" y="25"/>
                  <a:pt x="4" y="25"/>
                  <a:pt x="4" y="26"/>
                </a:cubicBezTo>
                <a:cubicBezTo>
                  <a:pt x="4" y="34"/>
                  <a:pt x="10" y="42"/>
                  <a:pt x="18" y="43"/>
                </a:cubicBezTo>
                <a:cubicBezTo>
                  <a:pt x="15" y="44"/>
                  <a:pt x="13" y="44"/>
                  <a:pt x="10" y="44"/>
                </a:cubicBezTo>
                <a:cubicBezTo>
                  <a:pt x="12" y="51"/>
                  <a:pt x="19" y="56"/>
                  <a:pt x="27" y="56"/>
                </a:cubicBezTo>
                <a:cubicBezTo>
                  <a:pt x="19" y="62"/>
                  <a:pt x="9" y="65"/>
                  <a:pt x="0" y="64"/>
                </a:cubicBezTo>
                <a:cubicBezTo>
                  <a:pt x="8" y="69"/>
                  <a:pt x="18" y="72"/>
                  <a:pt x="28" y="72"/>
                </a:cubicBezTo>
                <a:cubicBezTo>
                  <a:pt x="61" y="72"/>
                  <a:pt x="80" y="44"/>
                  <a:pt x="80" y="20"/>
                </a:cubicBezTo>
                <a:cubicBezTo>
                  <a:pt x="80" y="19"/>
                  <a:pt x="80" y="19"/>
                  <a:pt x="80" y="18"/>
                </a:cubicBezTo>
                <a:cubicBezTo>
                  <a:pt x="83" y="15"/>
                  <a:pt x="87" y="13"/>
                  <a:pt x="90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E577FF-B92F-D88D-9998-2A4EB728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430"/>
            <a:ext cx="12192000" cy="546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60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F4245-B655-1986-3482-6757C1AB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D43AAD-10E0-B662-FFCD-7DA67D504E79}"/>
              </a:ext>
            </a:extLst>
          </p:cNvPr>
          <p:cNvSpPr/>
          <p:nvPr/>
        </p:nvSpPr>
        <p:spPr>
          <a:xfrm>
            <a:off x="0" y="1116246"/>
            <a:ext cx="12192000" cy="529590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dirty="0"/>
              <a:t>Upcoming Deposits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5D37A-1DBB-E228-456D-5B467EDD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</a:t>
            </a:r>
            <a:r>
              <a:rPr lang="en-GB" dirty="0" err="1"/>
              <a:t>Streamlit</a:t>
            </a:r>
            <a:r>
              <a:rPr lang="en-GB" dirty="0"/>
              <a:t> Dashboard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C43E6-2AAE-3283-7188-C88F87B5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2" name="Group 11" descr="This is an icon of coins.">
            <a:extLst>
              <a:ext uri="{FF2B5EF4-FFF2-40B4-BE49-F238E27FC236}">
                <a16:creationId xmlns:a16="http://schemas.microsoft.com/office/drawing/2014/main" id="{4678C953-DDB4-22BB-D1F7-7A9300895559}"/>
              </a:ext>
            </a:extLst>
          </p:cNvPr>
          <p:cNvGrpSpPr/>
          <p:nvPr/>
        </p:nvGrpSpPr>
        <p:grpSpPr>
          <a:xfrm>
            <a:off x="1870641" y="1439094"/>
            <a:ext cx="287338" cy="263526"/>
            <a:chOff x="3171825" y="1368425"/>
            <a:chExt cx="287338" cy="263526"/>
          </a:xfrm>
          <a:solidFill>
            <a:schemeClr val="bg1"/>
          </a:solidFill>
        </p:grpSpPr>
        <p:sp>
          <p:nvSpPr>
            <p:cNvPr id="13" name="Freeform 466">
              <a:extLst>
                <a:ext uri="{FF2B5EF4-FFF2-40B4-BE49-F238E27FC236}">
                  <a16:creationId xmlns:a16="http://schemas.microsoft.com/office/drawing/2014/main" id="{1FE87E18-CA9C-B261-B62B-EEE92D8B5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598613"/>
              <a:ext cx="49213" cy="33338"/>
            </a:xfrm>
            <a:custGeom>
              <a:avLst/>
              <a:gdLst>
                <a:gd name="T0" fmla="*/ 0 w 151"/>
                <a:gd name="T1" fmla="*/ 0 h 106"/>
                <a:gd name="T2" fmla="*/ 0 w 151"/>
                <a:gd name="T3" fmla="*/ 106 h 106"/>
                <a:gd name="T4" fmla="*/ 151 w 151"/>
                <a:gd name="T5" fmla="*/ 106 h 106"/>
                <a:gd name="T6" fmla="*/ 151 w 151"/>
                <a:gd name="T7" fmla="*/ 0 h 106"/>
                <a:gd name="T8" fmla="*/ 136 w 151"/>
                <a:gd name="T9" fmla="*/ 0 h 106"/>
                <a:gd name="T10" fmla="*/ 0 w 151"/>
                <a:gd name="T1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6">
                  <a:moveTo>
                    <a:pt x="0" y="0"/>
                  </a:moveTo>
                  <a:lnTo>
                    <a:pt x="0" y="106"/>
                  </a:lnTo>
                  <a:lnTo>
                    <a:pt x="151" y="106"/>
                  </a:lnTo>
                  <a:lnTo>
                    <a:pt x="151" y="0"/>
                  </a:lnTo>
                  <a:lnTo>
                    <a:pt x="1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467">
              <a:extLst>
                <a:ext uri="{FF2B5EF4-FFF2-40B4-BE49-F238E27FC236}">
                  <a16:creationId xmlns:a16="http://schemas.microsoft.com/office/drawing/2014/main" id="{58E7A4C1-ECB3-E885-50F6-3FD6787E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598613"/>
              <a:ext cx="28575" cy="33338"/>
            </a:xfrm>
            <a:custGeom>
              <a:avLst/>
              <a:gdLst>
                <a:gd name="T0" fmla="*/ 75 w 90"/>
                <a:gd name="T1" fmla="*/ 0 h 106"/>
                <a:gd name="T2" fmla="*/ 0 w 90"/>
                <a:gd name="T3" fmla="*/ 0 h 106"/>
                <a:gd name="T4" fmla="*/ 0 w 90"/>
                <a:gd name="T5" fmla="*/ 106 h 106"/>
                <a:gd name="T6" fmla="*/ 75 w 90"/>
                <a:gd name="T7" fmla="*/ 106 h 106"/>
                <a:gd name="T8" fmla="*/ 78 w 90"/>
                <a:gd name="T9" fmla="*/ 106 h 106"/>
                <a:gd name="T10" fmla="*/ 80 w 90"/>
                <a:gd name="T11" fmla="*/ 104 h 106"/>
                <a:gd name="T12" fmla="*/ 84 w 90"/>
                <a:gd name="T13" fmla="*/ 103 h 106"/>
                <a:gd name="T14" fmla="*/ 86 w 90"/>
                <a:gd name="T15" fmla="*/ 101 h 106"/>
                <a:gd name="T16" fmla="*/ 88 w 90"/>
                <a:gd name="T17" fmla="*/ 99 h 106"/>
                <a:gd name="T18" fmla="*/ 89 w 90"/>
                <a:gd name="T19" fmla="*/ 97 h 106"/>
                <a:gd name="T20" fmla="*/ 90 w 90"/>
                <a:gd name="T21" fmla="*/ 94 h 106"/>
                <a:gd name="T22" fmla="*/ 90 w 90"/>
                <a:gd name="T23" fmla="*/ 91 h 106"/>
                <a:gd name="T24" fmla="*/ 90 w 90"/>
                <a:gd name="T25" fmla="*/ 15 h 106"/>
                <a:gd name="T26" fmla="*/ 90 w 90"/>
                <a:gd name="T27" fmla="*/ 12 h 106"/>
                <a:gd name="T28" fmla="*/ 89 w 90"/>
                <a:gd name="T29" fmla="*/ 10 h 106"/>
                <a:gd name="T30" fmla="*/ 88 w 90"/>
                <a:gd name="T31" fmla="*/ 7 h 106"/>
                <a:gd name="T32" fmla="*/ 86 w 90"/>
                <a:gd name="T33" fmla="*/ 5 h 106"/>
                <a:gd name="T34" fmla="*/ 84 w 90"/>
                <a:gd name="T35" fmla="*/ 4 h 106"/>
                <a:gd name="T36" fmla="*/ 80 w 90"/>
                <a:gd name="T37" fmla="*/ 2 h 106"/>
                <a:gd name="T38" fmla="*/ 78 w 90"/>
                <a:gd name="T39" fmla="*/ 2 h 106"/>
                <a:gd name="T40" fmla="*/ 75 w 90"/>
                <a:gd name="T41" fmla="*/ 0 h 106"/>
                <a:gd name="T42" fmla="*/ 75 w 90"/>
                <a:gd name="T43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6">
                  <a:moveTo>
                    <a:pt x="75" y="0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75" y="106"/>
                  </a:lnTo>
                  <a:lnTo>
                    <a:pt x="78" y="106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0" y="94"/>
                  </a:lnTo>
                  <a:lnTo>
                    <a:pt x="90" y="91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468">
              <a:extLst>
                <a:ext uri="{FF2B5EF4-FFF2-40B4-BE49-F238E27FC236}">
                  <a16:creationId xmlns:a16="http://schemas.microsoft.com/office/drawing/2014/main" id="{29FD3488-18DD-EB7E-331D-D33944DA7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598613"/>
              <a:ext cx="28575" cy="33338"/>
            </a:xfrm>
            <a:custGeom>
              <a:avLst/>
              <a:gdLst>
                <a:gd name="T0" fmla="*/ 15 w 90"/>
                <a:gd name="T1" fmla="*/ 0 h 106"/>
                <a:gd name="T2" fmla="*/ 11 w 90"/>
                <a:gd name="T3" fmla="*/ 0 h 106"/>
                <a:gd name="T4" fmla="*/ 9 w 90"/>
                <a:gd name="T5" fmla="*/ 2 h 106"/>
                <a:gd name="T6" fmla="*/ 6 w 90"/>
                <a:gd name="T7" fmla="*/ 4 h 106"/>
                <a:gd name="T8" fmla="*/ 4 w 90"/>
                <a:gd name="T9" fmla="*/ 5 h 106"/>
                <a:gd name="T10" fmla="*/ 3 w 90"/>
                <a:gd name="T11" fmla="*/ 7 h 106"/>
                <a:gd name="T12" fmla="*/ 1 w 90"/>
                <a:gd name="T13" fmla="*/ 10 h 106"/>
                <a:gd name="T14" fmla="*/ 0 w 90"/>
                <a:gd name="T15" fmla="*/ 12 h 106"/>
                <a:gd name="T16" fmla="*/ 0 w 90"/>
                <a:gd name="T17" fmla="*/ 15 h 106"/>
                <a:gd name="T18" fmla="*/ 0 w 90"/>
                <a:gd name="T19" fmla="*/ 91 h 106"/>
                <a:gd name="T20" fmla="*/ 0 w 90"/>
                <a:gd name="T21" fmla="*/ 94 h 106"/>
                <a:gd name="T22" fmla="*/ 1 w 90"/>
                <a:gd name="T23" fmla="*/ 97 h 106"/>
                <a:gd name="T24" fmla="*/ 3 w 90"/>
                <a:gd name="T25" fmla="*/ 99 h 106"/>
                <a:gd name="T26" fmla="*/ 4 w 90"/>
                <a:gd name="T27" fmla="*/ 101 h 106"/>
                <a:gd name="T28" fmla="*/ 6 w 90"/>
                <a:gd name="T29" fmla="*/ 103 h 106"/>
                <a:gd name="T30" fmla="*/ 9 w 90"/>
                <a:gd name="T31" fmla="*/ 104 h 106"/>
                <a:gd name="T32" fmla="*/ 11 w 90"/>
                <a:gd name="T33" fmla="*/ 106 h 106"/>
                <a:gd name="T34" fmla="*/ 15 w 90"/>
                <a:gd name="T35" fmla="*/ 106 h 106"/>
                <a:gd name="T36" fmla="*/ 90 w 90"/>
                <a:gd name="T37" fmla="*/ 106 h 106"/>
                <a:gd name="T38" fmla="*/ 90 w 90"/>
                <a:gd name="T39" fmla="*/ 0 h 106"/>
                <a:gd name="T40" fmla="*/ 75 w 90"/>
                <a:gd name="T41" fmla="*/ 0 h 106"/>
                <a:gd name="T42" fmla="*/ 15 w 90"/>
                <a:gd name="T43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6">
                  <a:moveTo>
                    <a:pt x="15" y="0"/>
                  </a:moveTo>
                  <a:lnTo>
                    <a:pt x="11" y="0"/>
                  </a:lnTo>
                  <a:lnTo>
                    <a:pt x="9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1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6"/>
                  </a:lnTo>
                  <a:lnTo>
                    <a:pt x="15" y="106"/>
                  </a:lnTo>
                  <a:lnTo>
                    <a:pt x="90" y="106"/>
                  </a:lnTo>
                  <a:lnTo>
                    <a:pt x="90" y="0"/>
                  </a:lnTo>
                  <a:lnTo>
                    <a:pt x="7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469">
              <a:extLst>
                <a:ext uri="{FF2B5EF4-FFF2-40B4-BE49-F238E27FC236}">
                  <a16:creationId xmlns:a16="http://schemas.microsoft.com/office/drawing/2014/main" id="{D25485B4-70CC-7039-BA78-92AB23E55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522413"/>
              <a:ext cx="49213" cy="33338"/>
            </a:xfrm>
            <a:custGeom>
              <a:avLst/>
              <a:gdLst>
                <a:gd name="T0" fmla="*/ 151 w 151"/>
                <a:gd name="T1" fmla="*/ 105 h 105"/>
                <a:gd name="T2" fmla="*/ 151 w 151"/>
                <a:gd name="T3" fmla="*/ 0 h 105"/>
                <a:gd name="T4" fmla="*/ 136 w 151"/>
                <a:gd name="T5" fmla="*/ 0 h 105"/>
                <a:gd name="T6" fmla="*/ 0 w 151"/>
                <a:gd name="T7" fmla="*/ 0 h 105"/>
                <a:gd name="T8" fmla="*/ 0 w 151"/>
                <a:gd name="T9" fmla="*/ 105 h 105"/>
                <a:gd name="T10" fmla="*/ 136 w 151"/>
                <a:gd name="T11" fmla="*/ 105 h 105"/>
                <a:gd name="T12" fmla="*/ 151 w 151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105"/>
                  </a:moveTo>
                  <a:lnTo>
                    <a:pt x="151" y="0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36" y="105"/>
                  </a:lnTo>
                  <a:lnTo>
                    <a:pt x="15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470">
              <a:extLst>
                <a:ext uri="{FF2B5EF4-FFF2-40B4-BE49-F238E27FC236}">
                  <a16:creationId xmlns:a16="http://schemas.microsoft.com/office/drawing/2014/main" id="{030E9BCD-5688-F0B1-4B8E-B6D57875A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522413"/>
              <a:ext cx="28575" cy="33338"/>
            </a:xfrm>
            <a:custGeom>
              <a:avLst/>
              <a:gdLst>
                <a:gd name="T0" fmla="*/ 15 w 90"/>
                <a:gd name="T1" fmla="*/ 0 h 105"/>
                <a:gd name="T2" fmla="*/ 11 w 90"/>
                <a:gd name="T3" fmla="*/ 0 h 105"/>
                <a:gd name="T4" fmla="*/ 9 w 90"/>
                <a:gd name="T5" fmla="*/ 1 h 105"/>
                <a:gd name="T6" fmla="*/ 6 w 90"/>
                <a:gd name="T7" fmla="*/ 2 h 105"/>
                <a:gd name="T8" fmla="*/ 4 w 90"/>
                <a:gd name="T9" fmla="*/ 4 h 105"/>
                <a:gd name="T10" fmla="*/ 3 w 90"/>
                <a:gd name="T11" fmla="*/ 7 h 105"/>
                <a:gd name="T12" fmla="*/ 1 w 90"/>
                <a:gd name="T13" fmla="*/ 9 h 105"/>
                <a:gd name="T14" fmla="*/ 0 w 90"/>
                <a:gd name="T15" fmla="*/ 12 h 105"/>
                <a:gd name="T16" fmla="*/ 0 w 90"/>
                <a:gd name="T17" fmla="*/ 15 h 105"/>
                <a:gd name="T18" fmla="*/ 0 w 90"/>
                <a:gd name="T19" fmla="*/ 90 h 105"/>
                <a:gd name="T20" fmla="*/ 0 w 90"/>
                <a:gd name="T21" fmla="*/ 93 h 105"/>
                <a:gd name="T22" fmla="*/ 1 w 90"/>
                <a:gd name="T23" fmla="*/ 96 h 105"/>
                <a:gd name="T24" fmla="*/ 3 w 90"/>
                <a:gd name="T25" fmla="*/ 99 h 105"/>
                <a:gd name="T26" fmla="*/ 4 w 90"/>
                <a:gd name="T27" fmla="*/ 101 h 105"/>
                <a:gd name="T28" fmla="*/ 6 w 90"/>
                <a:gd name="T29" fmla="*/ 102 h 105"/>
                <a:gd name="T30" fmla="*/ 9 w 90"/>
                <a:gd name="T31" fmla="*/ 104 h 105"/>
                <a:gd name="T32" fmla="*/ 11 w 90"/>
                <a:gd name="T33" fmla="*/ 105 h 105"/>
                <a:gd name="T34" fmla="*/ 15 w 90"/>
                <a:gd name="T35" fmla="*/ 105 h 105"/>
                <a:gd name="T36" fmla="*/ 75 w 90"/>
                <a:gd name="T37" fmla="*/ 105 h 105"/>
                <a:gd name="T38" fmla="*/ 90 w 90"/>
                <a:gd name="T39" fmla="*/ 105 h 105"/>
                <a:gd name="T40" fmla="*/ 90 w 90"/>
                <a:gd name="T41" fmla="*/ 0 h 105"/>
                <a:gd name="T42" fmla="*/ 75 w 90"/>
                <a:gd name="T43" fmla="*/ 0 h 105"/>
                <a:gd name="T44" fmla="*/ 15 w 90"/>
                <a:gd name="T4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5">
                  <a:moveTo>
                    <a:pt x="15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2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75" y="105"/>
                  </a:lnTo>
                  <a:lnTo>
                    <a:pt x="90" y="105"/>
                  </a:lnTo>
                  <a:lnTo>
                    <a:pt x="90" y="0"/>
                  </a:lnTo>
                  <a:lnTo>
                    <a:pt x="7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471">
              <a:extLst>
                <a:ext uri="{FF2B5EF4-FFF2-40B4-BE49-F238E27FC236}">
                  <a16:creationId xmlns:a16="http://schemas.microsoft.com/office/drawing/2014/main" id="{D7CB978B-7218-1CE9-9BA7-662905E28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522413"/>
              <a:ext cx="28575" cy="33338"/>
            </a:xfrm>
            <a:custGeom>
              <a:avLst/>
              <a:gdLst>
                <a:gd name="T0" fmla="*/ 75 w 90"/>
                <a:gd name="T1" fmla="*/ 0 h 105"/>
                <a:gd name="T2" fmla="*/ 0 w 90"/>
                <a:gd name="T3" fmla="*/ 0 h 105"/>
                <a:gd name="T4" fmla="*/ 0 w 90"/>
                <a:gd name="T5" fmla="*/ 105 h 105"/>
                <a:gd name="T6" fmla="*/ 75 w 90"/>
                <a:gd name="T7" fmla="*/ 105 h 105"/>
                <a:gd name="T8" fmla="*/ 78 w 90"/>
                <a:gd name="T9" fmla="*/ 105 h 105"/>
                <a:gd name="T10" fmla="*/ 80 w 90"/>
                <a:gd name="T11" fmla="*/ 104 h 105"/>
                <a:gd name="T12" fmla="*/ 84 w 90"/>
                <a:gd name="T13" fmla="*/ 102 h 105"/>
                <a:gd name="T14" fmla="*/ 86 w 90"/>
                <a:gd name="T15" fmla="*/ 101 h 105"/>
                <a:gd name="T16" fmla="*/ 88 w 90"/>
                <a:gd name="T17" fmla="*/ 99 h 105"/>
                <a:gd name="T18" fmla="*/ 89 w 90"/>
                <a:gd name="T19" fmla="*/ 96 h 105"/>
                <a:gd name="T20" fmla="*/ 90 w 90"/>
                <a:gd name="T21" fmla="*/ 93 h 105"/>
                <a:gd name="T22" fmla="*/ 90 w 90"/>
                <a:gd name="T23" fmla="*/ 90 h 105"/>
                <a:gd name="T24" fmla="*/ 90 w 90"/>
                <a:gd name="T25" fmla="*/ 15 h 105"/>
                <a:gd name="T26" fmla="*/ 90 w 90"/>
                <a:gd name="T27" fmla="*/ 12 h 105"/>
                <a:gd name="T28" fmla="*/ 89 w 90"/>
                <a:gd name="T29" fmla="*/ 9 h 105"/>
                <a:gd name="T30" fmla="*/ 88 w 90"/>
                <a:gd name="T31" fmla="*/ 7 h 105"/>
                <a:gd name="T32" fmla="*/ 86 w 90"/>
                <a:gd name="T33" fmla="*/ 4 h 105"/>
                <a:gd name="T34" fmla="*/ 84 w 90"/>
                <a:gd name="T35" fmla="*/ 2 h 105"/>
                <a:gd name="T36" fmla="*/ 80 w 90"/>
                <a:gd name="T37" fmla="*/ 1 h 105"/>
                <a:gd name="T38" fmla="*/ 78 w 90"/>
                <a:gd name="T39" fmla="*/ 0 h 105"/>
                <a:gd name="T40" fmla="*/ 75 w 90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75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0" y="104"/>
                  </a:lnTo>
                  <a:lnTo>
                    <a:pt x="84" y="102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472">
              <a:extLst>
                <a:ext uri="{FF2B5EF4-FFF2-40B4-BE49-F238E27FC236}">
                  <a16:creationId xmlns:a16="http://schemas.microsoft.com/office/drawing/2014/main" id="{AA3B33F8-068A-DF2D-BAAF-237FB1843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875" y="14462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15 w 90"/>
                <a:gd name="T3" fmla="*/ 0 h 105"/>
                <a:gd name="T4" fmla="*/ 11 w 90"/>
                <a:gd name="T5" fmla="*/ 0 h 105"/>
                <a:gd name="T6" fmla="*/ 9 w 90"/>
                <a:gd name="T7" fmla="*/ 1 h 105"/>
                <a:gd name="T8" fmla="*/ 6 w 90"/>
                <a:gd name="T9" fmla="*/ 2 h 105"/>
                <a:gd name="T10" fmla="*/ 4 w 90"/>
                <a:gd name="T11" fmla="*/ 4 h 105"/>
                <a:gd name="T12" fmla="*/ 3 w 90"/>
                <a:gd name="T13" fmla="*/ 6 h 105"/>
                <a:gd name="T14" fmla="*/ 1 w 90"/>
                <a:gd name="T15" fmla="*/ 9 h 105"/>
                <a:gd name="T16" fmla="*/ 0 w 90"/>
                <a:gd name="T17" fmla="*/ 12 h 105"/>
                <a:gd name="T18" fmla="*/ 0 w 90"/>
                <a:gd name="T19" fmla="*/ 15 h 105"/>
                <a:gd name="T20" fmla="*/ 0 w 90"/>
                <a:gd name="T21" fmla="*/ 90 h 105"/>
                <a:gd name="T22" fmla="*/ 0 w 90"/>
                <a:gd name="T23" fmla="*/ 93 h 105"/>
                <a:gd name="T24" fmla="*/ 1 w 90"/>
                <a:gd name="T25" fmla="*/ 96 h 105"/>
                <a:gd name="T26" fmla="*/ 3 w 90"/>
                <a:gd name="T27" fmla="*/ 99 h 105"/>
                <a:gd name="T28" fmla="*/ 4 w 90"/>
                <a:gd name="T29" fmla="*/ 101 h 105"/>
                <a:gd name="T30" fmla="*/ 6 w 90"/>
                <a:gd name="T31" fmla="*/ 103 h 105"/>
                <a:gd name="T32" fmla="*/ 9 w 90"/>
                <a:gd name="T33" fmla="*/ 104 h 105"/>
                <a:gd name="T34" fmla="*/ 11 w 90"/>
                <a:gd name="T35" fmla="*/ 105 h 105"/>
                <a:gd name="T36" fmla="*/ 15 w 90"/>
                <a:gd name="T37" fmla="*/ 105 h 105"/>
                <a:gd name="T38" fmla="*/ 45 w 90"/>
                <a:gd name="T39" fmla="*/ 105 h 105"/>
                <a:gd name="T40" fmla="*/ 90 w 90"/>
                <a:gd name="T41" fmla="*/ 105 h 105"/>
                <a:gd name="T42" fmla="*/ 90 w 90"/>
                <a:gd name="T4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473">
              <a:extLst>
                <a:ext uri="{FF2B5EF4-FFF2-40B4-BE49-F238E27FC236}">
                  <a16:creationId xmlns:a16="http://schemas.microsoft.com/office/drawing/2014/main" id="{4ABC37AA-D5D9-A192-4CF3-9E29387AC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975" y="1446213"/>
              <a:ext cx="49213" cy="33338"/>
            </a:xfrm>
            <a:custGeom>
              <a:avLst/>
              <a:gdLst>
                <a:gd name="T0" fmla="*/ 151 w 151"/>
                <a:gd name="T1" fmla="*/ 0 h 105"/>
                <a:gd name="T2" fmla="*/ 46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106 w 151"/>
                <a:gd name="T9" fmla="*/ 105 h 105"/>
                <a:gd name="T10" fmla="*/ 151 w 151"/>
                <a:gd name="T11" fmla="*/ 105 h 105"/>
                <a:gd name="T12" fmla="*/ 151 w 151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0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06" y="105"/>
                  </a:lnTo>
                  <a:lnTo>
                    <a:pt x="151" y="105"/>
                  </a:lnTo>
                  <a:lnTo>
                    <a:pt x="1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474">
              <a:extLst>
                <a:ext uri="{FF2B5EF4-FFF2-40B4-BE49-F238E27FC236}">
                  <a16:creationId xmlns:a16="http://schemas.microsoft.com/office/drawing/2014/main" id="{85E45CE4-799A-A3A2-D840-AF6B1D9D6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713" y="1446213"/>
              <a:ext cx="28575" cy="33338"/>
            </a:xfrm>
            <a:custGeom>
              <a:avLst/>
              <a:gdLst>
                <a:gd name="T0" fmla="*/ 90 w 90"/>
                <a:gd name="T1" fmla="*/ 15 h 105"/>
                <a:gd name="T2" fmla="*/ 90 w 90"/>
                <a:gd name="T3" fmla="*/ 12 h 105"/>
                <a:gd name="T4" fmla="*/ 89 w 90"/>
                <a:gd name="T5" fmla="*/ 9 h 105"/>
                <a:gd name="T6" fmla="*/ 88 w 90"/>
                <a:gd name="T7" fmla="*/ 6 h 105"/>
                <a:gd name="T8" fmla="*/ 86 w 90"/>
                <a:gd name="T9" fmla="*/ 4 h 105"/>
                <a:gd name="T10" fmla="*/ 84 w 90"/>
                <a:gd name="T11" fmla="*/ 2 h 105"/>
                <a:gd name="T12" fmla="*/ 81 w 90"/>
                <a:gd name="T13" fmla="*/ 1 h 105"/>
                <a:gd name="T14" fmla="*/ 78 w 90"/>
                <a:gd name="T15" fmla="*/ 0 h 105"/>
                <a:gd name="T16" fmla="*/ 75 w 90"/>
                <a:gd name="T17" fmla="*/ 0 h 105"/>
                <a:gd name="T18" fmla="*/ 45 w 90"/>
                <a:gd name="T19" fmla="*/ 0 h 105"/>
                <a:gd name="T20" fmla="*/ 0 w 90"/>
                <a:gd name="T21" fmla="*/ 0 h 105"/>
                <a:gd name="T22" fmla="*/ 0 w 90"/>
                <a:gd name="T23" fmla="*/ 105 h 105"/>
                <a:gd name="T24" fmla="*/ 75 w 90"/>
                <a:gd name="T25" fmla="*/ 105 h 105"/>
                <a:gd name="T26" fmla="*/ 78 w 90"/>
                <a:gd name="T27" fmla="*/ 105 h 105"/>
                <a:gd name="T28" fmla="*/ 81 w 90"/>
                <a:gd name="T29" fmla="*/ 104 h 105"/>
                <a:gd name="T30" fmla="*/ 84 w 90"/>
                <a:gd name="T31" fmla="*/ 103 h 105"/>
                <a:gd name="T32" fmla="*/ 86 w 90"/>
                <a:gd name="T33" fmla="*/ 101 h 105"/>
                <a:gd name="T34" fmla="*/ 88 w 90"/>
                <a:gd name="T35" fmla="*/ 99 h 105"/>
                <a:gd name="T36" fmla="*/ 89 w 90"/>
                <a:gd name="T37" fmla="*/ 96 h 105"/>
                <a:gd name="T38" fmla="*/ 90 w 90"/>
                <a:gd name="T39" fmla="*/ 93 h 105"/>
                <a:gd name="T40" fmla="*/ 90 w 90"/>
                <a:gd name="T41" fmla="*/ 90 h 105"/>
                <a:gd name="T42" fmla="*/ 90 w 90"/>
                <a:gd name="T43" fmla="*/ 1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5">
                  <a:moveTo>
                    <a:pt x="90" y="15"/>
                  </a:moveTo>
                  <a:lnTo>
                    <a:pt x="90" y="12"/>
                  </a:lnTo>
                  <a:lnTo>
                    <a:pt x="89" y="9"/>
                  </a:lnTo>
                  <a:lnTo>
                    <a:pt x="88" y="6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1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1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475">
              <a:extLst>
                <a:ext uri="{FF2B5EF4-FFF2-40B4-BE49-F238E27FC236}">
                  <a16:creationId xmlns:a16="http://schemas.microsoft.com/office/drawing/2014/main" id="{F4AF74A2-AE64-2596-E5C4-BBA9D61A6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408113"/>
              <a:ext cx="30163" cy="33338"/>
            </a:xfrm>
            <a:custGeom>
              <a:avLst/>
              <a:gdLst>
                <a:gd name="T0" fmla="*/ 0 w 91"/>
                <a:gd name="T1" fmla="*/ 90 h 105"/>
                <a:gd name="T2" fmla="*/ 1 w 91"/>
                <a:gd name="T3" fmla="*/ 93 h 105"/>
                <a:gd name="T4" fmla="*/ 1 w 91"/>
                <a:gd name="T5" fmla="*/ 95 h 105"/>
                <a:gd name="T6" fmla="*/ 3 w 91"/>
                <a:gd name="T7" fmla="*/ 98 h 105"/>
                <a:gd name="T8" fmla="*/ 4 w 91"/>
                <a:gd name="T9" fmla="*/ 101 h 105"/>
                <a:gd name="T10" fmla="*/ 7 w 91"/>
                <a:gd name="T11" fmla="*/ 103 h 105"/>
                <a:gd name="T12" fmla="*/ 9 w 91"/>
                <a:gd name="T13" fmla="*/ 104 h 105"/>
                <a:gd name="T14" fmla="*/ 13 w 91"/>
                <a:gd name="T15" fmla="*/ 105 h 105"/>
                <a:gd name="T16" fmla="*/ 15 w 91"/>
                <a:gd name="T17" fmla="*/ 105 h 105"/>
                <a:gd name="T18" fmla="*/ 45 w 91"/>
                <a:gd name="T19" fmla="*/ 105 h 105"/>
                <a:gd name="T20" fmla="*/ 91 w 91"/>
                <a:gd name="T21" fmla="*/ 105 h 105"/>
                <a:gd name="T22" fmla="*/ 91 w 91"/>
                <a:gd name="T23" fmla="*/ 0 h 105"/>
                <a:gd name="T24" fmla="*/ 15 w 91"/>
                <a:gd name="T25" fmla="*/ 0 h 105"/>
                <a:gd name="T26" fmla="*/ 13 w 91"/>
                <a:gd name="T27" fmla="*/ 0 h 105"/>
                <a:gd name="T28" fmla="*/ 9 w 91"/>
                <a:gd name="T29" fmla="*/ 1 h 105"/>
                <a:gd name="T30" fmla="*/ 7 w 91"/>
                <a:gd name="T31" fmla="*/ 2 h 105"/>
                <a:gd name="T32" fmla="*/ 4 w 91"/>
                <a:gd name="T33" fmla="*/ 4 h 105"/>
                <a:gd name="T34" fmla="*/ 3 w 91"/>
                <a:gd name="T35" fmla="*/ 6 h 105"/>
                <a:gd name="T36" fmla="*/ 1 w 91"/>
                <a:gd name="T37" fmla="*/ 8 h 105"/>
                <a:gd name="T38" fmla="*/ 1 w 91"/>
                <a:gd name="T39" fmla="*/ 11 h 105"/>
                <a:gd name="T40" fmla="*/ 0 w 91"/>
                <a:gd name="T41" fmla="*/ 15 h 105"/>
                <a:gd name="T42" fmla="*/ 0 w 91"/>
                <a:gd name="T43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" h="105">
                  <a:moveTo>
                    <a:pt x="0" y="90"/>
                  </a:moveTo>
                  <a:lnTo>
                    <a:pt x="1" y="93"/>
                  </a:lnTo>
                  <a:lnTo>
                    <a:pt x="1" y="95"/>
                  </a:lnTo>
                  <a:lnTo>
                    <a:pt x="3" y="98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9" y="104"/>
                  </a:lnTo>
                  <a:lnTo>
                    <a:pt x="13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1" y="105"/>
                  </a:lnTo>
                  <a:lnTo>
                    <a:pt x="91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476">
              <a:extLst>
                <a:ext uri="{FF2B5EF4-FFF2-40B4-BE49-F238E27FC236}">
                  <a16:creationId xmlns:a16="http://schemas.microsoft.com/office/drawing/2014/main" id="{0C709551-27E3-3950-5FAB-04FBA574A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1408113"/>
              <a:ext cx="47625" cy="33338"/>
            </a:xfrm>
            <a:custGeom>
              <a:avLst/>
              <a:gdLst>
                <a:gd name="T0" fmla="*/ 0 w 150"/>
                <a:gd name="T1" fmla="*/ 105 h 105"/>
                <a:gd name="T2" fmla="*/ 105 w 150"/>
                <a:gd name="T3" fmla="*/ 105 h 105"/>
                <a:gd name="T4" fmla="*/ 150 w 150"/>
                <a:gd name="T5" fmla="*/ 105 h 105"/>
                <a:gd name="T6" fmla="*/ 150 w 150"/>
                <a:gd name="T7" fmla="*/ 0 h 105"/>
                <a:gd name="T8" fmla="*/ 75 w 150"/>
                <a:gd name="T9" fmla="*/ 0 h 105"/>
                <a:gd name="T10" fmla="*/ 0 w 150"/>
                <a:gd name="T11" fmla="*/ 0 h 105"/>
                <a:gd name="T12" fmla="*/ 0 w 150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105">
                  <a:moveTo>
                    <a:pt x="0" y="105"/>
                  </a:moveTo>
                  <a:lnTo>
                    <a:pt x="105" y="105"/>
                  </a:lnTo>
                  <a:lnTo>
                    <a:pt x="150" y="105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478">
              <a:extLst>
                <a:ext uri="{FF2B5EF4-FFF2-40B4-BE49-F238E27FC236}">
                  <a16:creationId xmlns:a16="http://schemas.microsoft.com/office/drawing/2014/main" id="{011BEBDE-AD1B-3A3B-E050-10ECC7F82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763" y="1408113"/>
              <a:ext cx="28575" cy="33338"/>
            </a:xfrm>
            <a:custGeom>
              <a:avLst/>
              <a:gdLst>
                <a:gd name="T0" fmla="*/ 0 w 90"/>
                <a:gd name="T1" fmla="*/ 105 h 105"/>
                <a:gd name="T2" fmla="*/ 75 w 90"/>
                <a:gd name="T3" fmla="*/ 105 h 105"/>
                <a:gd name="T4" fmla="*/ 78 w 90"/>
                <a:gd name="T5" fmla="*/ 105 h 105"/>
                <a:gd name="T6" fmla="*/ 82 w 90"/>
                <a:gd name="T7" fmla="*/ 104 h 105"/>
                <a:gd name="T8" fmla="*/ 84 w 90"/>
                <a:gd name="T9" fmla="*/ 103 h 105"/>
                <a:gd name="T10" fmla="*/ 86 w 90"/>
                <a:gd name="T11" fmla="*/ 101 h 105"/>
                <a:gd name="T12" fmla="*/ 88 w 90"/>
                <a:gd name="T13" fmla="*/ 98 h 105"/>
                <a:gd name="T14" fmla="*/ 89 w 90"/>
                <a:gd name="T15" fmla="*/ 95 h 105"/>
                <a:gd name="T16" fmla="*/ 90 w 90"/>
                <a:gd name="T17" fmla="*/ 93 h 105"/>
                <a:gd name="T18" fmla="*/ 90 w 90"/>
                <a:gd name="T19" fmla="*/ 90 h 105"/>
                <a:gd name="T20" fmla="*/ 90 w 90"/>
                <a:gd name="T21" fmla="*/ 15 h 105"/>
                <a:gd name="T22" fmla="*/ 90 w 90"/>
                <a:gd name="T23" fmla="*/ 11 h 105"/>
                <a:gd name="T24" fmla="*/ 89 w 90"/>
                <a:gd name="T25" fmla="*/ 8 h 105"/>
                <a:gd name="T26" fmla="*/ 88 w 90"/>
                <a:gd name="T27" fmla="*/ 6 h 105"/>
                <a:gd name="T28" fmla="*/ 86 w 90"/>
                <a:gd name="T29" fmla="*/ 4 h 105"/>
                <a:gd name="T30" fmla="*/ 84 w 90"/>
                <a:gd name="T31" fmla="*/ 2 h 105"/>
                <a:gd name="T32" fmla="*/ 82 w 90"/>
                <a:gd name="T33" fmla="*/ 1 h 105"/>
                <a:gd name="T34" fmla="*/ 78 w 90"/>
                <a:gd name="T35" fmla="*/ 0 h 105"/>
                <a:gd name="T36" fmla="*/ 75 w 90"/>
                <a:gd name="T37" fmla="*/ 0 h 105"/>
                <a:gd name="T38" fmla="*/ 0 w 90"/>
                <a:gd name="T39" fmla="*/ 0 h 105"/>
                <a:gd name="T40" fmla="*/ 0 w 90"/>
                <a:gd name="T41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0" y="105"/>
                  </a:moveTo>
                  <a:lnTo>
                    <a:pt x="75" y="105"/>
                  </a:lnTo>
                  <a:lnTo>
                    <a:pt x="78" y="105"/>
                  </a:lnTo>
                  <a:lnTo>
                    <a:pt x="82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8"/>
                  </a:lnTo>
                  <a:lnTo>
                    <a:pt x="89" y="95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lnTo>
                    <a:pt x="90" y="11"/>
                  </a:lnTo>
                  <a:lnTo>
                    <a:pt x="89" y="8"/>
                  </a:lnTo>
                  <a:lnTo>
                    <a:pt x="88" y="6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2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479">
              <a:extLst>
                <a:ext uri="{FF2B5EF4-FFF2-40B4-BE49-F238E27FC236}">
                  <a16:creationId xmlns:a16="http://schemas.microsoft.com/office/drawing/2014/main" id="{BAFA3F8A-B34B-0E0F-45F1-94CBA1AF0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1560513"/>
              <a:ext cx="28575" cy="33338"/>
            </a:xfrm>
            <a:custGeom>
              <a:avLst/>
              <a:gdLst>
                <a:gd name="T0" fmla="*/ 90 w 90"/>
                <a:gd name="T1" fmla="*/ 90 h 105"/>
                <a:gd name="T2" fmla="*/ 90 w 90"/>
                <a:gd name="T3" fmla="*/ 15 h 105"/>
                <a:gd name="T4" fmla="*/ 90 w 90"/>
                <a:gd name="T5" fmla="*/ 12 h 105"/>
                <a:gd name="T6" fmla="*/ 89 w 90"/>
                <a:gd name="T7" fmla="*/ 9 h 105"/>
                <a:gd name="T8" fmla="*/ 88 w 90"/>
                <a:gd name="T9" fmla="*/ 7 h 105"/>
                <a:gd name="T10" fmla="*/ 86 w 90"/>
                <a:gd name="T11" fmla="*/ 5 h 105"/>
                <a:gd name="T12" fmla="*/ 84 w 90"/>
                <a:gd name="T13" fmla="*/ 2 h 105"/>
                <a:gd name="T14" fmla="*/ 80 w 90"/>
                <a:gd name="T15" fmla="*/ 1 h 105"/>
                <a:gd name="T16" fmla="*/ 78 w 90"/>
                <a:gd name="T17" fmla="*/ 0 h 105"/>
                <a:gd name="T18" fmla="*/ 75 w 90"/>
                <a:gd name="T19" fmla="*/ 0 h 105"/>
                <a:gd name="T20" fmla="*/ 15 w 90"/>
                <a:gd name="T21" fmla="*/ 0 h 105"/>
                <a:gd name="T22" fmla="*/ 0 w 90"/>
                <a:gd name="T23" fmla="*/ 0 h 105"/>
                <a:gd name="T24" fmla="*/ 0 w 90"/>
                <a:gd name="T25" fmla="*/ 105 h 105"/>
                <a:gd name="T26" fmla="*/ 15 w 90"/>
                <a:gd name="T27" fmla="*/ 105 h 105"/>
                <a:gd name="T28" fmla="*/ 75 w 90"/>
                <a:gd name="T29" fmla="*/ 105 h 105"/>
                <a:gd name="T30" fmla="*/ 78 w 90"/>
                <a:gd name="T31" fmla="*/ 105 h 105"/>
                <a:gd name="T32" fmla="*/ 80 w 90"/>
                <a:gd name="T33" fmla="*/ 104 h 105"/>
                <a:gd name="T34" fmla="*/ 84 w 90"/>
                <a:gd name="T35" fmla="*/ 103 h 105"/>
                <a:gd name="T36" fmla="*/ 86 w 90"/>
                <a:gd name="T37" fmla="*/ 101 h 105"/>
                <a:gd name="T38" fmla="*/ 88 w 90"/>
                <a:gd name="T39" fmla="*/ 99 h 105"/>
                <a:gd name="T40" fmla="*/ 89 w 90"/>
                <a:gd name="T41" fmla="*/ 97 h 105"/>
                <a:gd name="T42" fmla="*/ 90 w 90"/>
                <a:gd name="T43" fmla="*/ 94 h 105"/>
                <a:gd name="T44" fmla="*/ 90 w 90"/>
                <a:gd name="T45" fmla="*/ 90 h 105"/>
                <a:gd name="T46" fmla="*/ 90 w 90"/>
                <a:gd name="T47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105">
                  <a:moveTo>
                    <a:pt x="90" y="90"/>
                  </a:move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5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0" y="94"/>
                  </a:lnTo>
                  <a:lnTo>
                    <a:pt x="90" y="90"/>
                  </a:lnTo>
                  <a:lnTo>
                    <a:pt x="9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480">
              <a:extLst>
                <a:ext uri="{FF2B5EF4-FFF2-40B4-BE49-F238E27FC236}">
                  <a16:creationId xmlns:a16="http://schemas.microsoft.com/office/drawing/2014/main" id="{81EF307C-3974-F97F-1BF9-096ED6EE3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560513"/>
              <a:ext cx="49213" cy="33338"/>
            </a:xfrm>
            <a:custGeom>
              <a:avLst/>
              <a:gdLst>
                <a:gd name="T0" fmla="*/ 151 w 151"/>
                <a:gd name="T1" fmla="*/ 0 h 105"/>
                <a:gd name="T2" fmla="*/ 15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15 w 151"/>
                <a:gd name="T9" fmla="*/ 105 h 105"/>
                <a:gd name="T10" fmla="*/ 151 w 151"/>
                <a:gd name="T11" fmla="*/ 105 h 105"/>
                <a:gd name="T12" fmla="*/ 151 w 151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0"/>
                  </a:moveTo>
                  <a:lnTo>
                    <a:pt x="1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5" y="105"/>
                  </a:lnTo>
                  <a:lnTo>
                    <a:pt x="151" y="105"/>
                  </a:lnTo>
                  <a:lnTo>
                    <a:pt x="1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481">
              <a:extLst>
                <a:ext uri="{FF2B5EF4-FFF2-40B4-BE49-F238E27FC236}">
                  <a16:creationId xmlns:a16="http://schemas.microsoft.com/office/drawing/2014/main" id="{2EC092C4-7912-8CD0-4A21-6C27F4979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15605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15 w 90"/>
                <a:gd name="T3" fmla="*/ 0 h 105"/>
                <a:gd name="T4" fmla="*/ 11 w 90"/>
                <a:gd name="T5" fmla="*/ 0 h 105"/>
                <a:gd name="T6" fmla="*/ 9 w 90"/>
                <a:gd name="T7" fmla="*/ 1 h 105"/>
                <a:gd name="T8" fmla="*/ 6 w 90"/>
                <a:gd name="T9" fmla="*/ 2 h 105"/>
                <a:gd name="T10" fmla="*/ 4 w 90"/>
                <a:gd name="T11" fmla="*/ 5 h 105"/>
                <a:gd name="T12" fmla="*/ 2 w 90"/>
                <a:gd name="T13" fmla="*/ 7 h 105"/>
                <a:gd name="T14" fmla="*/ 1 w 90"/>
                <a:gd name="T15" fmla="*/ 10 h 105"/>
                <a:gd name="T16" fmla="*/ 0 w 90"/>
                <a:gd name="T17" fmla="*/ 12 h 105"/>
                <a:gd name="T18" fmla="*/ 0 w 90"/>
                <a:gd name="T19" fmla="*/ 15 h 105"/>
                <a:gd name="T20" fmla="*/ 0 w 90"/>
                <a:gd name="T21" fmla="*/ 90 h 105"/>
                <a:gd name="T22" fmla="*/ 0 w 90"/>
                <a:gd name="T23" fmla="*/ 94 h 105"/>
                <a:gd name="T24" fmla="*/ 1 w 90"/>
                <a:gd name="T25" fmla="*/ 97 h 105"/>
                <a:gd name="T26" fmla="*/ 2 w 90"/>
                <a:gd name="T27" fmla="*/ 99 h 105"/>
                <a:gd name="T28" fmla="*/ 4 w 90"/>
                <a:gd name="T29" fmla="*/ 101 h 105"/>
                <a:gd name="T30" fmla="*/ 6 w 90"/>
                <a:gd name="T31" fmla="*/ 103 h 105"/>
                <a:gd name="T32" fmla="*/ 9 w 90"/>
                <a:gd name="T33" fmla="*/ 104 h 105"/>
                <a:gd name="T34" fmla="*/ 11 w 90"/>
                <a:gd name="T35" fmla="*/ 105 h 105"/>
                <a:gd name="T36" fmla="*/ 15 w 90"/>
                <a:gd name="T37" fmla="*/ 105 h 105"/>
                <a:gd name="T38" fmla="*/ 90 w 90"/>
                <a:gd name="T39" fmla="*/ 105 h 105"/>
                <a:gd name="T40" fmla="*/ 90 w 90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482">
              <a:extLst>
                <a:ext uri="{FF2B5EF4-FFF2-40B4-BE49-F238E27FC236}">
                  <a16:creationId xmlns:a16="http://schemas.microsoft.com/office/drawing/2014/main" id="{0495544C-75DD-EB6F-31BE-5A0539248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484313"/>
              <a:ext cx="49213" cy="33338"/>
            </a:xfrm>
            <a:custGeom>
              <a:avLst/>
              <a:gdLst>
                <a:gd name="T0" fmla="*/ 151 w 151"/>
                <a:gd name="T1" fmla="*/ 106 h 106"/>
                <a:gd name="T2" fmla="*/ 151 w 151"/>
                <a:gd name="T3" fmla="*/ 0 h 106"/>
                <a:gd name="T4" fmla="*/ 45 w 151"/>
                <a:gd name="T5" fmla="*/ 0 h 106"/>
                <a:gd name="T6" fmla="*/ 0 w 151"/>
                <a:gd name="T7" fmla="*/ 0 h 106"/>
                <a:gd name="T8" fmla="*/ 0 w 151"/>
                <a:gd name="T9" fmla="*/ 106 h 106"/>
                <a:gd name="T10" fmla="*/ 15 w 151"/>
                <a:gd name="T11" fmla="*/ 106 h 106"/>
                <a:gd name="T12" fmla="*/ 151 w 151"/>
                <a:gd name="T13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6">
                  <a:moveTo>
                    <a:pt x="151" y="106"/>
                  </a:moveTo>
                  <a:lnTo>
                    <a:pt x="151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5" y="106"/>
                  </a:lnTo>
                  <a:lnTo>
                    <a:pt x="151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483">
              <a:extLst>
                <a:ext uri="{FF2B5EF4-FFF2-40B4-BE49-F238E27FC236}">
                  <a16:creationId xmlns:a16="http://schemas.microsoft.com/office/drawing/2014/main" id="{A5D87BBD-27A8-86F3-2F44-911421B74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1484313"/>
              <a:ext cx="28575" cy="33338"/>
            </a:xfrm>
            <a:custGeom>
              <a:avLst/>
              <a:gdLst>
                <a:gd name="T0" fmla="*/ 75 w 90"/>
                <a:gd name="T1" fmla="*/ 106 h 106"/>
                <a:gd name="T2" fmla="*/ 78 w 90"/>
                <a:gd name="T3" fmla="*/ 105 h 106"/>
                <a:gd name="T4" fmla="*/ 80 w 90"/>
                <a:gd name="T5" fmla="*/ 104 h 106"/>
                <a:gd name="T6" fmla="*/ 84 w 90"/>
                <a:gd name="T7" fmla="*/ 103 h 106"/>
                <a:gd name="T8" fmla="*/ 86 w 90"/>
                <a:gd name="T9" fmla="*/ 101 h 106"/>
                <a:gd name="T10" fmla="*/ 88 w 90"/>
                <a:gd name="T11" fmla="*/ 99 h 106"/>
                <a:gd name="T12" fmla="*/ 89 w 90"/>
                <a:gd name="T13" fmla="*/ 96 h 106"/>
                <a:gd name="T14" fmla="*/ 90 w 90"/>
                <a:gd name="T15" fmla="*/ 93 h 106"/>
                <a:gd name="T16" fmla="*/ 90 w 90"/>
                <a:gd name="T17" fmla="*/ 91 h 106"/>
                <a:gd name="T18" fmla="*/ 90 w 90"/>
                <a:gd name="T19" fmla="*/ 15 h 106"/>
                <a:gd name="T20" fmla="*/ 90 w 90"/>
                <a:gd name="T21" fmla="*/ 13 h 106"/>
                <a:gd name="T22" fmla="*/ 89 w 90"/>
                <a:gd name="T23" fmla="*/ 10 h 106"/>
                <a:gd name="T24" fmla="*/ 88 w 90"/>
                <a:gd name="T25" fmla="*/ 7 h 106"/>
                <a:gd name="T26" fmla="*/ 86 w 90"/>
                <a:gd name="T27" fmla="*/ 4 h 106"/>
                <a:gd name="T28" fmla="*/ 84 w 90"/>
                <a:gd name="T29" fmla="*/ 3 h 106"/>
                <a:gd name="T30" fmla="*/ 80 w 90"/>
                <a:gd name="T31" fmla="*/ 1 h 106"/>
                <a:gd name="T32" fmla="*/ 78 w 90"/>
                <a:gd name="T33" fmla="*/ 1 h 106"/>
                <a:gd name="T34" fmla="*/ 75 w 90"/>
                <a:gd name="T35" fmla="*/ 0 h 106"/>
                <a:gd name="T36" fmla="*/ 45 w 90"/>
                <a:gd name="T37" fmla="*/ 0 h 106"/>
                <a:gd name="T38" fmla="*/ 0 w 90"/>
                <a:gd name="T39" fmla="*/ 0 h 106"/>
                <a:gd name="T40" fmla="*/ 0 w 90"/>
                <a:gd name="T41" fmla="*/ 106 h 106"/>
                <a:gd name="T42" fmla="*/ 15 w 90"/>
                <a:gd name="T43" fmla="*/ 106 h 106"/>
                <a:gd name="T44" fmla="*/ 75 w 90"/>
                <a:gd name="T4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6">
                  <a:moveTo>
                    <a:pt x="75" y="106"/>
                  </a:moveTo>
                  <a:lnTo>
                    <a:pt x="78" y="105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1"/>
                  </a:lnTo>
                  <a:lnTo>
                    <a:pt x="90" y="15"/>
                  </a:lnTo>
                  <a:lnTo>
                    <a:pt x="90" y="13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3"/>
                  </a:lnTo>
                  <a:lnTo>
                    <a:pt x="80" y="1"/>
                  </a:lnTo>
                  <a:lnTo>
                    <a:pt x="78" y="1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5" y="106"/>
                  </a:lnTo>
                  <a:lnTo>
                    <a:pt x="75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84">
              <a:extLst>
                <a:ext uri="{FF2B5EF4-FFF2-40B4-BE49-F238E27FC236}">
                  <a16:creationId xmlns:a16="http://schemas.microsoft.com/office/drawing/2014/main" id="{C7DC6D33-C783-9557-FBFF-A7C80830D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1484313"/>
              <a:ext cx="28575" cy="33338"/>
            </a:xfrm>
            <a:custGeom>
              <a:avLst/>
              <a:gdLst>
                <a:gd name="T0" fmla="*/ 15 w 90"/>
                <a:gd name="T1" fmla="*/ 106 h 106"/>
                <a:gd name="T2" fmla="*/ 90 w 90"/>
                <a:gd name="T3" fmla="*/ 106 h 106"/>
                <a:gd name="T4" fmla="*/ 90 w 90"/>
                <a:gd name="T5" fmla="*/ 0 h 106"/>
                <a:gd name="T6" fmla="*/ 15 w 90"/>
                <a:gd name="T7" fmla="*/ 0 h 106"/>
                <a:gd name="T8" fmla="*/ 11 w 90"/>
                <a:gd name="T9" fmla="*/ 1 h 106"/>
                <a:gd name="T10" fmla="*/ 9 w 90"/>
                <a:gd name="T11" fmla="*/ 1 h 106"/>
                <a:gd name="T12" fmla="*/ 6 w 90"/>
                <a:gd name="T13" fmla="*/ 3 h 106"/>
                <a:gd name="T14" fmla="*/ 4 w 90"/>
                <a:gd name="T15" fmla="*/ 4 h 106"/>
                <a:gd name="T16" fmla="*/ 2 w 90"/>
                <a:gd name="T17" fmla="*/ 7 h 106"/>
                <a:gd name="T18" fmla="*/ 1 w 90"/>
                <a:gd name="T19" fmla="*/ 10 h 106"/>
                <a:gd name="T20" fmla="*/ 0 w 90"/>
                <a:gd name="T21" fmla="*/ 13 h 106"/>
                <a:gd name="T22" fmla="*/ 0 w 90"/>
                <a:gd name="T23" fmla="*/ 15 h 106"/>
                <a:gd name="T24" fmla="*/ 0 w 90"/>
                <a:gd name="T25" fmla="*/ 90 h 106"/>
                <a:gd name="T26" fmla="*/ 0 w 90"/>
                <a:gd name="T27" fmla="*/ 93 h 106"/>
                <a:gd name="T28" fmla="*/ 1 w 90"/>
                <a:gd name="T29" fmla="*/ 96 h 106"/>
                <a:gd name="T30" fmla="*/ 2 w 90"/>
                <a:gd name="T31" fmla="*/ 99 h 106"/>
                <a:gd name="T32" fmla="*/ 4 w 90"/>
                <a:gd name="T33" fmla="*/ 101 h 106"/>
                <a:gd name="T34" fmla="*/ 6 w 90"/>
                <a:gd name="T35" fmla="*/ 103 h 106"/>
                <a:gd name="T36" fmla="*/ 9 w 90"/>
                <a:gd name="T37" fmla="*/ 104 h 106"/>
                <a:gd name="T38" fmla="*/ 11 w 90"/>
                <a:gd name="T39" fmla="*/ 105 h 106"/>
                <a:gd name="T40" fmla="*/ 15 w 90"/>
                <a:gd name="T41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6">
                  <a:moveTo>
                    <a:pt x="15" y="106"/>
                  </a:moveTo>
                  <a:lnTo>
                    <a:pt x="90" y="106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4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2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485">
              <a:extLst>
                <a:ext uri="{FF2B5EF4-FFF2-40B4-BE49-F238E27FC236}">
                  <a16:creationId xmlns:a16="http://schemas.microsoft.com/office/drawing/2014/main" id="{F0E7CF09-E704-F314-A8C4-1BC0C8D0E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368425"/>
              <a:ext cx="28575" cy="34925"/>
            </a:xfrm>
            <a:custGeom>
              <a:avLst/>
              <a:gdLst>
                <a:gd name="T0" fmla="*/ 90 w 90"/>
                <a:gd name="T1" fmla="*/ 92 h 107"/>
                <a:gd name="T2" fmla="*/ 90 w 90"/>
                <a:gd name="T3" fmla="*/ 15 h 107"/>
                <a:gd name="T4" fmla="*/ 90 w 90"/>
                <a:gd name="T5" fmla="*/ 13 h 107"/>
                <a:gd name="T6" fmla="*/ 89 w 90"/>
                <a:gd name="T7" fmla="*/ 10 h 107"/>
                <a:gd name="T8" fmla="*/ 88 w 90"/>
                <a:gd name="T9" fmla="*/ 8 h 107"/>
                <a:gd name="T10" fmla="*/ 86 w 90"/>
                <a:gd name="T11" fmla="*/ 6 h 107"/>
                <a:gd name="T12" fmla="*/ 84 w 90"/>
                <a:gd name="T13" fmla="*/ 4 h 107"/>
                <a:gd name="T14" fmla="*/ 80 w 90"/>
                <a:gd name="T15" fmla="*/ 3 h 107"/>
                <a:gd name="T16" fmla="*/ 78 w 90"/>
                <a:gd name="T17" fmla="*/ 2 h 107"/>
                <a:gd name="T18" fmla="*/ 75 w 90"/>
                <a:gd name="T19" fmla="*/ 2 h 107"/>
                <a:gd name="T20" fmla="*/ 0 w 90"/>
                <a:gd name="T21" fmla="*/ 0 h 107"/>
                <a:gd name="T22" fmla="*/ 0 w 90"/>
                <a:gd name="T23" fmla="*/ 107 h 107"/>
                <a:gd name="T24" fmla="*/ 75 w 90"/>
                <a:gd name="T25" fmla="*/ 107 h 107"/>
                <a:gd name="T26" fmla="*/ 78 w 90"/>
                <a:gd name="T27" fmla="*/ 106 h 107"/>
                <a:gd name="T28" fmla="*/ 80 w 90"/>
                <a:gd name="T29" fmla="*/ 106 h 107"/>
                <a:gd name="T30" fmla="*/ 84 w 90"/>
                <a:gd name="T31" fmla="*/ 103 h 107"/>
                <a:gd name="T32" fmla="*/ 86 w 90"/>
                <a:gd name="T33" fmla="*/ 102 h 107"/>
                <a:gd name="T34" fmla="*/ 88 w 90"/>
                <a:gd name="T35" fmla="*/ 100 h 107"/>
                <a:gd name="T36" fmla="*/ 89 w 90"/>
                <a:gd name="T37" fmla="*/ 97 h 107"/>
                <a:gd name="T38" fmla="*/ 90 w 90"/>
                <a:gd name="T39" fmla="*/ 95 h 107"/>
                <a:gd name="T40" fmla="*/ 90 w 90"/>
                <a:gd name="T41" fmla="*/ 9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7">
                  <a:moveTo>
                    <a:pt x="90" y="92"/>
                  </a:moveTo>
                  <a:lnTo>
                    <a:pt x="90" y="15"/>
                  </a:lnTo>
                  <a:lnTo>
                    <a:pt x="90" y="13"/>
                  </a:lnTo>
                  <a:lnTo>
                    <a:pt x="89" y="10"/>
                  </a:lnTo>
                  <a:lnTo>
                    <a:pt x="88" y="8"/>
                  </a:lnTo>
                  <a:lnTo>
                    <a:pt x="86" y="6"/>
                  </a:lnTo>
                  <a:lnTo>
                    <a:pt x="84" y="4"/>
                  </a:lnTo>
                  <a:lnTo>
                    <a:pt x="80" y="3"/>
                  </a:lnTo>
                  <a:lnTo>
                    <a:pt x="78" y="2"/>
                  </a:lnTo>
                  <a:lnTo>
                    <a:pt x="75" y="2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75" y="107"/>
                  </a:lnTo>
                  <a:lnTo>
                    <a:pt x="78" y="106"/>
                  </a:lnTo>
                  <a:lnTo>
                    <a:pt x="80" y="106"/>
                  </a:lnTo>
                  <a:lnTo>
                    <a:pt x="84" y="103"/>
                  </a:lnTo>
                  <a:lnTo>
                    <a:pt x="86" y="102"/>
                  </a:lnTo>
                  <a:lnTo>
                    <a:pt x="88" y="100"/>
                  </a:lnTo>
                  <a:lnTo>
                    <a:pt x="89" y="97"/>
                  </a:lnTo>
                  <a:lnTo>
                    <a:pt x="90" y="95"/>
                  </a:lnTo>
                  <a:lnTo>
                    <a:pt x="9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486">
              <a:extLst>
                <a:ext uri="{FF2B5EF4-FFF2-40B4-BE49-F238E27FC236}">
                  <a16:creationId xmlns:a16="http://schemas.microsoft.com/office/drawing/2014/main" id="{63D03208-45FD-53BF-6425-D5355AFBF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368425"/>
              <a:ext cx="28575" cy="34925"/>
            </a:xfrm>
            <a:custGeom>
              <a:avLst/>
              <a:gdLst>
                <a:gd name="T0" fmla="*/ 15 w 90"/>
                <a:gd name="T1" fmla="*/ 107 h 107"/>
                <a:gd name="T2" fmla="*/ 90 w 90"/>
                <a:gd name="T3" fmla="*/ 107 h 107"/>
                <a:gd name="T4" fmla="*/ 90 w 90"/>
                <a:gd name="T5" fmla="*/ 0 h 107"/>
                <a:gd name="T6" fmla="*/ 15 w 90"/>
                <a:gd name="T7" fmla="*/ 0 h 107"/>
                <a:gd name="T8" fmla="*/ 11 w 90"/>
                <a:gd name="T9" fmla="*/ 2 h 107"/>
                <a:gd name="T10" fmla="*/ 9 w 90"/>
                <a:gd name="T11" fmla="*/ 3 h 107"/>
                <a:gd name="T12" fmla="*/ 6 w 90"/>
                <a:gd name="T13" fmla="*/ 4 h 107"/>
                <a:gd name="T14" fmla="*/ 4 w 90"/>
                <a:gd name="T15" fmla="*/ 6 h 107"/>
                <a:gd name="T16" fmla="*/ 3 w 90"/>
                <a:gd name="T17" fmla="*/ 8 h 107"/>
                <a:gd name="T18" fmla="*/ 1 w 90"/>
                <a:gd name="T19" fmla="*/ 10 h 107"/>
                <a:gd name="T20" fmla="*/ 0 w 90"/>
                <a:gd name="T21" fmla="*/ 13 h 107"/>
                <a:gd name="T22" fmla="*/ 0 w 90"/>
                <a:gd name="T23" fmla="*/ 17 h 107"/>
                <a:gd name="T24" fmla="*/ 0 w 90"/>
                <a:gd name="T25" fmla="*/ 92 h 107"/>
                <a:gd name="T26" fmla="*/ 0 w 90"/>
                <a:gd name="T27" fmla="*/ 95 h 107"/>
                <a:gd name="T28" fmla="*/ 1 w 90"/>
                <a:gd name="T29" fmla="*/ 97 h 107"/>
                <a:gd name="T30" fmla="*/ 3 w 90"/>
                <a:gd name="T31" fmla="*/ 100 h 107"/>
                <a:gd name="T32" fmla="*/ 4 w 90"/>
                <a:gd name="T33" fmla="*/ 102 h 107"/>
                <a:gd name="T34" fmla="*/ 6 w 90"/>
                <a:gd name="T35" fmla="*/ 103 h 107"/>
                <a:gd name="T36" fmla="*/ 9 w 90"/>
                <a:gd name="T37" fmla="*/ 106 h 107"/>
                <a:gd name="T38" fmla="*/ 11 w 90"/>
                <a:gd name="T39" fmla="*/ 106 h 107"/>
                <a:gd name="T40" fmla="*/ 15 w 90"/>
                <a:gd name="T4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7">
                  <a:moveTo>
                    <a:pt x="15" y="107"/>
                  </a:moveTo>
                  <a:lnTo>
                    <a:pt x="90" y="107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9" y="3"/>
                  </a:lnTo>
                  <a:lnTo>
                    <a:pt x="6" y="4"/>
                  </a:lnTo>
                  <a:lnTo>
                    <a:pt x="4" y="6"/>
                  </a:lnTo>
                  <a:lnTo>
                    <a:pt x="3" y="8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2"/>
                  </a:lnTo>
                  <a:lnTo>
                    <a:pt x="6" y="103"/>
                  </a:lnTo>
                  <a:lnTo>
                    <a:pt x="9" y="106"/>
                  </a:lnTo>
                  <a:lnTo>
                    <a:pt x="11" y="106"/>
                  </a:lnTo>
                  <a:lnTo>
                    <a:pt x="15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487">
              <a:extLst>
                <a:ext uri="{FF2B5EF4-FFF2-40B4-BE49-F238E27FC236}">
                  <a16:creationId xmlns:a16="http://schemas.microsoft.com/office/drawing/2014/main" id="{209369A0-D77C-C9EE-D11C-F5D1DD0B4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368425"/>
              <a:ext cx="49213" cy="34925"/>
            </a:xfrm>
            <a:custGeom>
              <a:avLst/>
              <a:gdLst>
                <a:gd name="T0" fmla="*/ 151 w 151"/>
                <a:gd name="T1" fmla="*/ 107 h 107"/>
                <a:gd name="T2" fmla="*/ 151 w 151"/>
                <a:gd name="T3" fmla="*/ 0 h 107"/>
                <a:gd name="T4" fmla="*/ 0 w 151"/>
                <a:gd name="T5" fmla="*/ 0 h 107"/>
                <a:gd name="T6" fmla="*/ 0 w 151"/>
                <a:gd name="T7" fmla="*/ 107 h 107"/>
                <a:gd name="T8" fmla="*/ 76 w 151"/>
                <a:gd name="T9" fmla="*/ 107 h 107"/>
                <a:gd name="T10" fmla="*/ 151 w 151"/>
                <a:gd name="T1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7">
                  <a:moveTo>
                    <a:pt x="151" y="107"/>
                  </a:moveTo>
                  <a:lnTo>
                    <a:pt x="151" y="0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76" y="107"/>
                  </a:lnTo>
                  <a:lnTo>
                    <a:pt x="151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488">
              <a:extLst>
                <a:ext uri="{FF2B5EF4-FFF2-40B4-BE49-F238E27FC236}">
                  <a16:creationId xmlns:a16="http://schemas.microsoft.com/office/drawing/2014/main" id="{7B902971-B771-F2F9-F729-769FCFC40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1598613"/>
              <a:ext cx="28575" cy="33338"/>
            </a:xfrm>
            <a:custGeom>
              <a:avLst/>
              <a:gdLst>
                <a:gd name="T0" fmla="*/ 75 w 91"/>
                <a:gd name="T1" fmla="*/ 0 h 106"/>
                <a:gd name="T2" fmla="*/ 45 w 91"/>
                <a:gd name="T3" fmla="*/ 0 h 106"/>
                <a:gd name="T4" fmla="*/ 0 w 91"/>
                <a:gd name="T5" fmla="*/ 0 h 106"/>
                <a:gd name="T6" fmla="*/ 0 w 91"/>
                <a:gd name="T7" fmla="*/ 106 h 106"/>
                <a:gd name="T8" fmla="*/ 75 w 91"/>
                <a:gd name="T9" fmla="*/ 106 h 106"/>
                <a:gd name="T10" fmla="*/ 79 w 91"/>
                <a:gd name="T11" fmla="*/ 106 h 106"/>
                <a:gd name="T12" fmla="*/ 81 w 91"/>
                <a:gd name="T13" fmla="*/ 104 h 106"/>
                <a:gd name="T14" fmla="*/ 84 w 91"/>
                <a:gd name="T15" fmla="*/ 103 h 106"/>
                <a:gd name="T16" fmla="*/ 86 w 91"/>
                <a:gd name="T17" fmla="*/ 101 h 106"/>
                <a:gd name="T18" fmla="*/ 88 w 91"/>
                <a:gd name="T19" fmla="*/ 99 h 106"/>
                <a:gd name="T20" fmla="*/ 89 w 91"/>
                <a:gd name="T21" fmla="*/ 97 h 106"/>
                <a:gd name="T22" fmla="*/ 91 w 91"/>
                <a:gd name="T23" fmla="*/ 94 h 106"/>
                <a:gd name="T24" fmla="*/ 91 w 91"/>
                <a:gd name="T25" fmla="*/ 91 h 106"/>
                <a:gd name="T26" fmla="*/ 91 w 91"/>
                <a:gd name="T27" fmla="*/ 15 h 106"/>
                <a:gd name="T28" fmla="*/ 91 w 91"/>
                <a:gd name="T29" fmla="*/ 12 h 106"/>
                <a:gd name="T30" fmla="*/ 89 w 91"/>
                <a:gd name="T31" fmla="*/ 10 h 106"/>
                <a:gd name="T32" fmla="*/ 88 w 91"/>
                <a:gd name="T33" fmla="*/ 7 h 106"/>
                <a:gd name="T34" fmla="*/ 86 w 91"/>
                <a:gd name="T35" fmla="*/ 5 h 106"/>
                <a:gd name="T36" fmla="*/ 84 w 91"/>
                <a:gd name="T37" fmla="*/ 4 h 106"/>
                <a:gd name="T38" fmla="*/ 81 w 91"/>
                <a:gd name="T39" fmla="*/ 2 h 106"/>
                <a:gd name="T40" fmla="*/ 79 w 91"/>
                <a:gd name="T41" fmla="*/ 2 h 106"/>
                <a:gd name="T42" fmla="*/ 75 w 91"/>
                <a:gd name="T43" fmla="*/ 0 h 106"/>
                <a:gd name="T44" fmla="*/ 75 w 91"/>
                <a:gd name="T4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106">
                  <a:moveTo>
                    <a:pt x="75" y="0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75" y="106"/>
                  </a:lnTo>
                  <a:lnTo>
                    <a:pt x="79" y="106"/>
                  </a:lnTo>
                  <a:lnTo>
                    <a:pt x="81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1" y="94"/>
                  </a:lnTo>
                  <a:lnTo>
                    <a:pt x="91" y="91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489">
              <a:extLst>
                <a:ext uri="{FF2B5EF4-FFF2-40B4-BE49-F238E27FC236}">
                  <a16:creationId xmlns:a16="http://schemas.microsoft.com/office/drawing/2014/main" id="{B2A33B56-3069-C684-3110-9B28F993B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1598613"/>
              <a:ext cx="28575" cy="33338"/>
            </a:xfrm>
            <a:custGeom>
              <a:avLst/>
              <a:gdLst>
                <a:gd name="T0" fmla="*/ 0 w 90"/>
                <a:gd name="T1" fmla="*/ 15 h 106"/>
                <a:gd name="T2" fmla="*/ 0 w 90"/>
                <a:gd name="T3" fmla="*/ 91 h 106"/>
                <a:gd name="T4" fmla="*/ 0 w 90"/>
                <a:gd name="T5" fmla="*/ 94 h 106"/>
                <a:gd name="T6" fmla="*/ 1 w 90"/>
                <a:gd name="T7" fmla="*/ 97 h 106"/>
                <a:gd name="T8" fmla="*/ 3 w 90"/>
                <a:gd name="T9" fmla="*/ 99 h 106"/>
                <a:gd name="T10" fmla="*/ 4 w 90"/>
                <a:gd name="T11" fmla="*/ 101 h 106"/>
                <a:gd name="T12" fmla="*/ 6 w 90"/>
                <a:gd name="T13" fmla="*/ 103 h 106"/>
                <a:gd name="T14" fmla="*/ 10 w 90"/>
                <a:gd name="T15" fmla="*/ 104 h 106"/>
                <a:gd name="T16" fmla="*/ 12 w 90"/>
                <a:gd name="T17" fmla="*/ 106 h 106"/>
                <a:gd name="T18" fmla="*/ 15 w 90"/>
                <a:gd name="T19" fmla="*/ 106 h 106"/>
                <a:gd name="T20" fmla="*/ 90 w 90"/>
                <a:gd name="T21" fmla="*/ 106 h 106"/>
                <a:gd name="T22" fmla="*/ 90 w 90"/>
                <a:gd name="T23" fmla="*/ 0 h 106"/>
                <a:gd name="T24" fmla="*/ 15 w 90"/>
                <a:gd name="T25" fmla="*/ 0 h 106"/>
                <a:gd name="T26" fmla="*/ 12 w 90"/>
                <a:gd name="T27" fmla="*/ 0 h 106"/>
                <a:gd name="T28" fmla="*/ 10 w 90"/>
                <a:gd name="T29" fmla="*/ 2 h 106"/>
                <a:gd name="T30" fmla="*/ 6 w 90"/>
                <a:gd name="T31" fmla="*/ 4 h 106"/>
                <a:gd name="T32" fmla="*/ 4 w 90"/>
                <a:gd name="T33" fmla="*/ 5 h 106"/>
                <a:gd name="T34" fmla="*/ 3 w 90"/>
                <a:gd name="T35" fmla="*/ 7 h 106"/>
                <a:gd name="T36" fmla="*/ 1 w 90"/>
                <a:gd name="T37" fmla="*/ 10 h 106"/>
                <a:gd name="T38" fmla="*/ 0 w 90"/>
                <a:gd name="T39" fmla="*/ 12 h 106"/>
                <a:gd name="T40" fmla="*/ 0 w 90"/>
                <a:gd name="T41" fmla="*/ 1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6">
                  <a:moveTo>
                    <a:pt x="0" y="15"/>
                  </a:moveTo>
                  <a:lnTo>
                    <a:pt x="0" y="91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10" y="104"/>
                  </a:lnTo>
                  <a:lnTo>
                    <a:pt x="12" y="106"/>
                  </a:lnTo>
                  <a:lnTo>
                    <a:pt x="15" y="106"/>
                  </a:lnTo>
                  <a:lnTo>
                    <a:pt x="90" y="106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490">
              <a:extLst>
                <a:ext uri="{FF2B5EF4-FFF2-40B4-BE49-F238E27FC236}">
                  <a16:creationId xmlns:a16="http://schemas.microsoft.com/office/drawing/2014/main" id="{30D025AD-6DA3-AA67-666B-1C1F62A57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388" y="1598613"/>
              <a:ext cx="47625" cy="33338"/>
            </a:xfrm>
            <a:custGeom>
              <a:avLst/>
              <a:gdLst>
                <a:gd name="T0" fmla="*/ 0 w 151"/>
                <a:gd name="T1" fmla="*/ 0 h 106"/>
                <a:gd name="T2" fmla="*/ 0 w 151"/>
                <a:gd name="T3" fmla="*/ 106 h 106"/>
                <a:gd name="T4" fmla="*/ 151 w 151"/>
                <a:gd name="T5" fmla="*/ 106 h 106"/>
                <a:gd name="T6" fmla="*/ 151 w 151"/>
                <a:gd name="T7" fmla="*/ 0 h 106"/>
                <a:gd name="T8" fmla="*/ 45 w 151"/>
                <a:gd name="T9" fmla="*/ 0 h 106"/>
                <a:gd name="T10" fmla="*/ 0 w 151"/>
                <a:gd name="T1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6">
                  <a:moveTo>
                    <a:pt x="0" y="0"/>
                  </a:moveTo>
                  <a:lnTo>
                    <a:pt x="0" y="106"/>
                  </a:lnTo>
                  <a:lnTo>
                    <a:pt x="151" y="106"/>
                  </a:lnTo>
                  <a:lnTo>
                    <a:pt x="151" y="0"/>
                  </a:lnTo>
                  <a:lnTo>
                    <a:pt x="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491">
              <a:extLst>
                <a:ext uri="{FF2B5EF4-FFF2-40B4-BE49-F238E27FC236}">
                  <a16:creationId xmlns:a16="http://schemas.microsoft.com/office/drawing/2014/main" id="{682A880A-105C-D00F-D009-CA952989B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438" y="1560513"/>
              <a:ext cx="47625" cy="33338"/>
            </a:xfrm>
            <a:custGeom>
              <a:avLst/>
              <a:gdLst>
                <a:gd name="T0" fmla="*/ 150 w 150"/>
                <a:gd name="T1" fmla="*/ 0 h 105"/>
                <a:gd name="T2" fmla="*/ 105 w 150"/>
                <a:gd name="T3" fmla="*/ 0 h 105"/>
                <a:gd name="T4" fmla="*/ 0 w 150"/>
                <a:gd name="T5" fmla="*/ 0 h 105"/>
                <a:gd name="T6" fmla="*/ 0 w 150"/>
                <a:gd name="T7" fmla="*/ 105 h 105"/>
                <a:gd name="T8" fmla="*/ 105 w 150"/>
                <a:gd name="T9" fmla="*/ 105 h 105"/>
                <a:gd name="T10" fmla="*/ 150 w 150"/>
                <a:gd name="T11" fmla="*/ 105 h 105"/>
                <a:gd name="T12" fmla="*/ 150 w 150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105">
                  <a:moveTo>
                    <a:pt x="150" y="0"/>
                  </a:moveTo>
                  <a:lnTo>
                    <a:pt x="10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05" y="105"/>
                  </a:lnTo>
                  <a:lnTo>
                    <a:pt x="150" y="105"/>
                  </a:lnTo>
                  <a:lnTo>
                    <a:pt x="1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492">
              <a:extLst>
                <a:ext uri="{FF2B5EF4-FFF2-40B4-BE49-F238E27FC236}">
                  <a16:creationId xmlns:a16="http://schemas.microsoft.com/office/drawing/2014/main" id="{F2BD28C4-9F49-2E36-581C-17375C4EE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338" y="15605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45 w 90"/>
                <a:gd name="T3" fmla="*/ 0 h 105"/>
                <a:gd name="T4" fmla="*/ 15 w 90"/>
                <a:gd name="T5" fmla="*/ 0 h 105"/>
                <a:gd name="T6" fmla="*/ 12 w 90"/>
                <a:gd name="T7" fmla="*/ 0 h 105"/>
                <a:gd name="T8" fmla="*/ 10 w 90"/>
                <a:gd name="T9" fmla="*/ 1 h 105"/>
                <a:gd name="T10" fmla="*/ 7 w 90"/>
                <a:gd name="T11" fmla="*/ 2 h 105"/>
                <a:gd name="T12" fmla="*/ 4 w 90"/>
                <a:gd name="T13" fmla="*/ 5 h 105"/>
                <a:gd name="T14" fmla="*/ 3 w 90"/>
                <a:gd name="T15" fmla="*/ 7 h 105"/>
                <a:gd name="T16" fmla="*/ 1 w 90"/>
                <a:gd name="T17" fmla="*/ 10 h 105"/>
                <a:gd name="T18" fmla="*/ 1 w 90"/>
                <a:gd name="T19" fmla="*/ 12 h 105"/>
                <a:gd name="T20" fmla="*/ 0 w 90"/>
                <a:gd name="T21" fmla="*/ 15 h 105"/>
                <a:gd name="T22" fmla="*/ 0 w 90"/>
                <a:gd name="T23" fmla="*/ 90 h 105"/>
                <a:gd name="T24" fmla="*/ 1 w 90"/>
                <a:gd name="T25" fmla="*/ 94 h 105"/>
                <a:gd name="T26" fmla="*/ 1 w 90"/>
                <a:gd name="T27" fmla="*/ 97 h 105"/>
                <a:gd name="T28" fmla="*/ 3 w 90"/>
                <a:gd name="T29" fmla="*/ 99 h 105"/>
                <a:gd name="T30" fmla="*/ 4 w 90"/>
                <a:gd name="T31" fmla="*/ 101 h 105"/>
                <a:gd name="T32" fmla="*/ 7 w 90"/>
                <a:gd name="T33" fmla="*/ 103 h 105"/>
                <a:gd name="T34" fmla="*/ 10 w 90"/>
                <a:gd name="T35" fmla="*/ 104 h 105"/>
                <a:gd name="T36" fmla="*/ 12 w 90"/>
                <a:gd name="T37" fmla="*/ 105 h 105"/>
                <a:gd name="T38" fmla="*/ 15 w 90"/>
                <a:gd name="T39" fmla="*/ 105 h 105"/>
                <a:gd name="T40" fmla="*/ 45 w 90"/>
                <a:gd name="T41" fmla="*/ 105 h 105"/>
                <a:gd name="T42" fmla="*/ 90 w 90"/>
                <a:gd name="T43" fmla="*/ 105 h 105"/>
                <a:gd name="T44" fmla="*/ 90 w 90"/>
                <a:gd name="T4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4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1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10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493">
              <a:extLst>
                <a:ext uri="{FF2B5EF4-FFF2-40B4-BE49-F238E27FC236}">
                  <a16:creationId xmlns:a16="http://schemas.microsoft.com/office/drawing/2014/main" id="{FFBE5F0A-3744-C419-AB82-8E7A33CB1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88" y="1560513"/>
              <a:ext cx="28575" cy="33338"/>
            </a:xfrm>
            <a:custGeom>
              <a:avLst/>
              <a:gdLst>
                <a:gd name="T0" fmla="*/ 76 w 91"/>
                <a:gd name="T1" fmla="*/ 0 h 105"/>
                <a:gd name="T2" fmla="*/ 0 w 91"/>
                <a:gd name="T3" fmla="*/ 0 h 105"/>
                <a:gd name="T4" fmla="*/ 0 w 91"/>
                <a:gd name="T5" fmla="*/ 105 h 105"/>
                <a:gd name="T6" fmla="*/ 76 w 91"/>
                <a:gd name="T7" fmla="*/ 105 h 105"/>
                <a:gd name="T8" fmla="*/ 79 w 91"/>
                <a:gd name="T9" fmla="*/ 105 h 105"/>
                <a:gd name="T10" fmla="*/ 82 w 91"/>
                <a:gd name="T11" fmla="*/ 104 h 105"/>
                <a:gd name="T12" fmla="*/ 84 w 91"/>
                <a:gd name="T13" fmla="*/ 103 h 105"/>
                <a:gd name="T14" fmla="*/ 86 w 91"/>
                <a:gd name="T15" fmla="*/ 101 h 105"/>
                <a:gd name="T16" fmla="*/ 88 w 91"/>
                <a:gd name="T17" fmla="*/ 99 h 105"/>
                <a:gd name="T18" fmla="*/ 89 w 91"/>
                <a:gd name="T19" fmla="*/ 97 h 105"/>
                <a:gd name="T20" fmla="*/ 91 w 91"/>
                <a:gd name="T21" fmla="*/ 94 h 105"/>
                <a:gd name="T22" fmla="*/ 91 w 91"/>
                <a:gd name="T23" fmla="*/ 90 h 105"/>
                <a:gd name="T24" fmla="*/ 91 w 91"/>
                <a:gd name="T25" fmla="*/ 15 h 105"/>
                <a:gd name="T26" fmla="*/ 91 w 91"/>
                <a:gd name="T27" fmla="*/ 12 h 105"/>
                <a:gd name="T28" fmla="*/ 89 w 91"/>
                <a:gd name="T29" fmla="*/ 9 h 105"/>
                <a:gd name="T30" fmla="*/ 88 w 91"/>
                <a:gd name="T31" fmla="*/ 7 h 105"/>
                <a:gd name="T32" fmla="*/ 86 w 91"/>
                <a:gd name="T33" fmla="*/ 5 h 105"/>
                <a:gd name="T34" fmla="*/ 84 w 91"/>
                <a:gd name="T35" fmla="*/ 2 h 105"/>
                <a:gd name="T36" fmla="*/ 82 w 91"/>
                <a:gd name="T37" fmla="*/ 1 h 105"/>
                <a:gd name="T38" fmla="*/ 79 w 91"/>
                <a:gd name="T39" fmla="*/ 0 h 105"/>
                <a:gd name="T40" fmla="*/ 76 w 91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1" h="105">
                  <a:moveTo>
                    <a:pt x="76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76" y="105"/>
                  </a:lnTo>
                  <a:lnTo>
                    <a:pt x="79" y="105"/>
                  </a:lnTo>
                  <a:lnTo>
                    <a:pt x="82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1" y="94"/>
                  </a:lnTo>
                  <a:lnTo>
                    <a:pt x="91" y="90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2" y="1"/>
                  </a:lnTo>
                  <a:lnTo>
                    <a:pt x="79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494">
              <a:extLst>
                <a:ext uri="{FF2B5EF4-FFF2-40B4-BE49-F238E27FC236}">
                  <a16:creationId xmlns:a16="http://schemas.microsoft.com/office/drawing/2014/main" id="{ACA831B5-49EE-47B0-0DED-675721649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1522413"/>
              <a:ext cx="28575" cy="33338"/>
            </a:xfrm>
            <a:custGeom>
              <a:avLst/>
              <a:gdLst>
                <a:gd name="T0" fmla="*/ 75 w 91"/>
                <a:gd name="T1" fmla="*/ 105 h 105"/>
                <a:gd name="T2" fmla="*/ 79 w 91"/>
                <a:gd name="T3" fmla="*/ 105 h 105"/>
                <a:gd name="T4" fmla="*/ 81 w 91"/>
                <a:gd name="T5" fmla="*/ 104 h 105"/>
                <a:gd name="T6" fmla="*/ 84 w 91"/>
                <a:gd name="T7" fmla="*/ 102 h 105"/>
                <a:gd name="T8" fmla="*/ 86 w 91"/>
                <a:gd name="T9" fmla="*/ 101 h 105"/>
                <a:gd name="T10" fmla="*/ 88 w 91"/>
                <a:gd name="T11" fmla="*/ 99 h 105"/>
                <a:gd name="T12" fmla="*/ 89 w 91"/>
                <a:gd name="T13" fmla="*/ 96 h 105"/>
                <a:gd name="T14" fmla="*/ 91 w 91"/>
                <a:gd name="T15" fmla="*/ 93 h 105"/>
                <a:gd name="T16" fmla="*/ 91 w 91"/>
                <a:gd name="T17" fmla="*/ 90 h 105"/>
                <a:gd name="T18" fmla="*/ 91 w 91"/>
                <a:gd name="T19" fmla="*/ 15 h 105"/>
                <a:gd name="T20" fmla="*/ 91 w 91"/>
                <a:gd name="T21" fmla="*/ 12 h 105"/>
                <a:gd name="T22" fmla="*/ 89 w 91"/>
                <a:gd name="T23" fmla="*/ 9 h 105"/>
                <a:gd name="T24" fmla="*/ 88 w 91"/>
                <a:gd name="T25" fmla="*/ 7 h 105"/>
                <a:gd name="T26" fmla="*/ 86 w 91"/>
                <a:gd name="T27" fmla="*/ 4 h 105"/>
                <a:gd name="T28" fmla="*/ 84 w 91"/>
                <a:gd name="T29" fmla="*/ 2 h 105"/>
                <a:gd name="T30" fmla="*/ 81 w 91"/>
                <a:gd name="T31" fmla="*/ 1 h 105"/>
                <a:gd name="T32" fmla="*/ 79 w 91"/>
                <a:gd name="T33" fmla="*/ 0 h 105"/>
                <a:gd name="T34" fmla="*/ 75 w 91"/>
                <a:gd name="T35" fmla="*/ 0 h 105"/>
                <a:gd name="T36" fmla="*/ 0 w 91"/>
                <a:gd name="T37" fmla="*/ 0 h 105"/>
                <a:gd name="T38" fmla="*/ 0 w 91"/>
                <a:gd name="T39" fmla="*/ 105 h 105"/>
                <a:gd name="T40" fmla="*/ 45 w 91"/>
                <a:gd name="T41" fmla="*/ 105 h 105"/>
                <a:gd name="T42" fmla="*/ 75 w 91"/>
                <a:gd name="T4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" h="105">
                  <a:moveTo>
                    <a:pt x="75" y="105"/>
                  </a:moveTo>
                  <a:lnTo>
                    <a:pt x="79" y="105"/>
                  </a:lnTo>
                  <a:lnTo>
                    <a:pt x="81" y="104"/>
                  </a:lnTo>
                  <a:lnTo>
                    <a:pt x="84" y="102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1" y="93"/>
                  </a:lnTo>
                  <a:lnTo>
                    <a:pt x="91" y="90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1" y="1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45" y="105"/>
                  </a:lnTo>
                  <a:lnTo>
                    <a:pt x="75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95">
              <a:extLst>
                <a:ext uri="{FF2B5EF4-FFF2-40B4-BE49-F238E27FC236}">
                  <a16:creationId xmlns:a16="http://schemas.microsoft.com/office/drawing/2014/main" id="{A54CE45A-9B8B-B0AB-7FFA-F62F86255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388" y="1522413"/>
              <a:ext cx="47625" cy="33338"/>
            </a:xfrm>
            <a:custGeom>
              <a:avLst/>
              <a:gdLst>
                <a:gd name="T0" fmla="*/ 151 w 151"/>
                <a:gd name="T1" fmla="*/ 105 h 105"/>
                <a:gd name="T2" fmla="*/ 151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45 w 151"/>
                <a:gd name="T9" fmla="*/ 105 h 105"/>
                <a:gd name="T10" fmla="*/ 151 w 151"/>
                <a:gd name="T11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5">
                  <a:moveTo>
                    <a:pt x="151" y="105"/>
                  </a:moveTo>
                  <a:lnTo>
                    <a:pt x="151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45" y="105"/>
                  </a:lnTo>
                  <a:lnTo>
                    <a:pt x="15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96">
              <a:extLst>
                <a:ext uri="{FF2B5EF4-FFF2-40B4-BE49-F238E27FC236}">
                  <a16:creationId xmlns:a16="http://schemas.microsoft.com/office/drawing/2014/main" id="{ECC2CABB-F1BC-EE87-2DC0-64979FC3E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1522413"/>
              <a:ext cx="28575" cy="33338"/>
            </a:xfrm>
            <a:custGeom>
              <a:avLst/>
              <a:gdLst>
                <a:gd name="T0" fmla="*/ 0 w 90"/>
                <a:gd name="T1" fmla="*/ 15 h 105"/>
                <a:gd name="T2" fmla="*/ 0 w 90"/>
                <a:gd name="T3" fmla="*/ 90 h 105"/>
                <a:gd name="T4" fmla="*/ 0 w 90"/>
                <a:gd name="T5" fmla="*/ 93 h 105"/>
                <a:gd name="T6" fmla="*/ 1 w 90"/>
                <a:gd name="T7" fmla="*/ 96 h 105"/>
                <a:gd name="T8" fmla="*/ 3 w 90"/>
                <a:gd name="T9" fmla="*/ 99 h 105"/>
                <a:gd name="T10" fmla="*/ 4 w 90"/>
                <a:gd name="T11" fmla="*/ 101 h 105"/>
                <a:gd name="T12" fmla="*/ 6 w 90"/>
                <a:gd name="T13" fmla="*/ 102 h 105"/>
                <a:gd name="T14" fmla="*/ 10 w 90"/>
                <a:gd name="T15" fmla="*/ 104 h 105"/>
                <a:gd name="T16" fmla="*/ 12 w 90"/>
                <a:gd name="T17" fmla="*/ 105 h 105"/>
                <a:gd name="T18" fmla="*/ 15 w 90"/>
                <a:gd name="T19" fmla="*/ 105 h 105"/>
                <a:gd name="T20" fmla="*/ 90 w 90"/>
                <a:gd name="T21" fmla="*/ 105 h 105"/>
                <a:gd name="T22" fmla="*/ 90 w 90"/>
                <a:gd name="T23" fmla="*/ 0 h 105"/>
                <a:gd name="T24" fmla="*/ 15 w 90"/>
                <a:gd name="T25" fmla="*/ 0 h 105"/>
                <a:gd name="T26" fmla="*/ 12 w 90"/>
                <a:gd name="T27" fmla="*/ 0 h 105"/>
                <a:gd name="T28" fmla="*/ 10 w 90"/>
                <a:gd name="T29" fmla="*/ 1 h 105"/>
                <a:gd name="T30" fmla="*/ 6 w 90"/>
                <a:gd name="T31" fmla="*/ 2 h 105"/>
                <a:gd name="T32" fmla="*/ 4 w 90"/>
                <a:gd name="T33" fmla="*/ 4 h 105"/>
                <a:gd name="T34" fmla="*/ 3 w 90"/>
                <a:gd name="T35" fmla="*/ 7 h 105"/>
                <a:gd name="T36" fmla="*/ 1 w 90"/>
                <a:gd name="T37" fmla="*/ 9 h 105"/>
                <a:gd name="T38" fmla="*/ 0 w 90"/>
                <a:gd name="T39" fmla="*/ 12 h 105"/>
                <a:gd name="T40" fmla="*/ 0 w 90"/>
                <a:gd name="T41" fmla="*/ 1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0" y="15"/>
                  </a:move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2"/>
                  </a:lnTo>
                  <a:lnTo>
                    <a:pt x="10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90" y="105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50DFF5E8-147E-C334-CF6C-C3C8AE37E70B}"/>
              </a:ext>
            </a:extLst>
          </p:cNvPr>
          <p:cNvSpPr/>
          <p:nvPr/>
        </p:nvSpPr>
        <p:spPr>
          <a:xfrm>
            <a:off x="1186197" y="2768999"/>
            <a:ext cx="16562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</a:rPr>
              <a:t>Upcoming Deposits</a:t>
            </a:r>
          </a:p>
        </p:txBody>
      </p:sp>
      <p:grpSp>
        <p:nvGrpSpPr>
          <p:cNvPr id="82" name="Group 81" descr="This is an icon of a cash register.">
            <a:extLst>
              <a:ext uri="{FF2B5EF4-FFF2-40B4-BE49-F238E27FC236}">
                <a16:creationId xmlns:a16="http://schemas.microsoft.com/office/drawing/2014/main" id="{EAB3CCB3-CED2-3CC0-C86B-D135053D1A9C}"/>
              </a:ext>
            </a:extLst>
          </p:cNvPr>
          <p:cNvGrpSpPr/>
          <p:nvPr/>
        </p:nvGrpSpPr>
        <p:grpSpPr>
          <a:xfrm>
            <a:off x="5952331" y="1427188"/>
            <a:ext cx="287338" cy="287338"/>
            <a:chOff x="304800" y="771525"/>
            <a:chExt cx="287338" cy="287338"/>
          </a:xfrm>
          <a:solidFill>
            <a:schemeClr val="bg1"/>
          </a:solidFill>
        </p:grpSpPr>
        <p:sp>
          <p:nvSpPr>
            <p:cNvPr id="83" name="Freeform 321">
              <a:extLst>
                <a:ext uri="{FF2B5EF4-FFF2-40B4-BE49-F238E27FC236}">
                  <a16:creationId xmlns:a16="http://schemas.microsoft.com/office/drawing/2014/main" id="{6E6CF19A-8F61-CEB6-84C8-8105C040D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388" y="923925"/>
              <a:ext cx="284163" cy="68263"/>
            </a:xfrm>
            <a:custGeom>
              <a:avLst/>
              <a:gdLst>
                <a:gd name="T0" fmla="*/ 694 w 895"/>
                <a:gd name="T1" fmla="*/ 159 h 211"/>
                <a:gd name="T2" fmla="*/ 657 w 895"/>
                <a:gd name="T3" fmla="*/ 159 h 211"/>
                <a:gd name="T4" fmla="*/ 657 w 895"/>
                <a:gd name="T5" fmla="*/ 122 h 211"/>
                <a:gd name="T6" fmla="*/ 694 w 895"/>
                <a:gd name="T7" fmla="*/ 122 h 211"/>
                <a:gd name="T8" fmla="*/ 694 w 895"/>
                <a:gd name="T9" fmla="*/ 159 h 211"/>
                <a:gd name="T10" fmla="*/ 637 w 895"/>
                <a:gd name="T11" fmla="*/ 103 h 211"/>
                <a:gd name="T12" fmla="*/ 600 w 895"/>
                <a:gd name="T13" fmla="*/ 103 h 211"/>
                <a:gd name="T14" fmla="*/ 600 w 895"/>
                <a:gd name="T15" fmla="*/ 65 h 211"/>
                <a:gd name="T16" fmla="*/ 637 w 895"/>
                <a:gd name="T17" fmla="*/ 65 h 211"/>
                <a:gd name="T18" fmla="*/ 637 w 895"/>
                <a:gd name="T19" fmla="*/ 103 h 211"/>
                <a:gd name="T20" fmla="*/ 581 w 895"/>
                <a:gd name="T21" fmla="*/ 159 h 211"/>
                <a:gd name="T22" fmla="*/ 543 w 895"/>
                <a:gd name="T23" fmla="*/ 159 h 211"/>
                <a:gd name="T24" fmla="*/ 543 w 895"/>
                <a:gd name="T25" fmla="*/ 122 h 211"/>
                <a:gd name="T26" fmla="*/ 581 w 895"/>
                <a:gd name="T27" fmla="*/ 122 h 211"/>
                <a:gd name="T28" fmla="*/ 581 w 895"/>
                <a:gd name="T29" fmla="*/ 159 h 211"/>
                <a:gd name="T30" fmla="*/ 524 w 895"/>
                <a:gd name="T31" fmla="*/ 103 h 211"/>
                <a:gd name="T32" fmla="*/ 485 w 895"/>
                <a:gd name="T33" fmla="*/ 103 h 211"/>
                <a:gd name="T34" fmla="*/ 485 w 895"/>
                <a:gd name="T35" fmla="*/ 65 h 211"/>
                <a:gd name="T36" fmla="*/ 524 w 895"/>
                <a:gd name="T37" fmla="*/ 65 h 211"/>
                <a:gd name="T38" fmla="*/ 524 w 895"/>
                <a:gd name="T39" fmla="*/ 103 h 211"/>
                <a:gd name="T40" fmla="*/ 467 w 895"/>
                <a:gd name="T41" fmla="*/ 159 h 211"/>
                <a:gd name="T42" fmla="*/ 428 w 895"/>
                <a:gd name="T43" fmla="*/ 159 h 211"/>
                <a:gd name="T44" fmla="*/ 428 w 895"/>
                <a:gd name="T45" fmla="*/ 122 h 211"/>
                <a:gd name="T46" fmla="*/ 467 w 895"/>
                <a:gd name="T47" fmla="*/ 122 h 211"/>
                <a:gd name="T48" fmla="*/ 467 w 895"/>
                <a:gd name="T49" fmla="*/ 159 h 211"/>
                <a:gd name="T50" fmla="*/ 410 w 895"/>
                <a:gd name="T51" fmla="*/ 103 h 211"/>
                <a:gd name="T52" fmla="*/ 371 w 895"/>
                <a:gd name="T53" fmla="*/ 103 h 211"/>
                <a:gd name="T54" fmla="*/ 371 w 895"/>
                <a:gd name="T55" fmla="*/ 65 h 211"/>
                <a:gd name="T56" fmla="*/ 410 w 895"/>
                <a:gd name="T57" fmla="*/ 65 h 211"/>
                <a:gd name="T58" fmla="*/ 410 w 895"/>
                <a:gd name="T59" fmla="*/ 103 h 211"/>
                <a:gd name="T60" fmla="*/ 353 w 895"/>
                <a:gd name="T61" fmla="*/ 159 h 211"/>
                <a:gd name="T62" fmla="*/ 315 w 895"/>
                <a:gd name="T63" fmla="*/ 159 h 211"/>
                <a:gd name="T64" fmla="*/ 315 w 895"/>
                <a:gd name="T65" fmla="*/ 122 h 211"/>
                <a:gd name="T66" fmla="*/ 353 w 895"/>
                <a:gd name="T67" fmla="*/ 122 h 211"/>
                <a:gd name="T68" fmla="*/ 353 w 895"/>
                <a:gd name="T69" fmla="*/ 159 h 211"/>
                <a:gd name="T70" fmla="*/ 295 w 895"/>
                <a:gd name="T71" fmla="*/ 103 h 211"/>
                <a:gd name="T72" fmla="*/ 258 w 895"/>
                <a:gd name="T73" fmla="*/ 103 h 211"/>
                <a:gd name="T74" fmla="*/ 258 w 895"/>
                <a:gd name="T75" fmla="*/ 65 h 211"/>
                <a:gd name="T76" fmla="*/ 295 w 895"/>
                <a:gd name="T77" fmla="*/ 65 h 211"/>
                <a:gd name="T78" fmla="*/ 295 w 895"/>
                <a:gd name="T79" fmla="*/ 103 h 211"/>
                <a:gd name="T80" fmla="*/ 238 w 895"/>
                <a:gd name="T81" fmla="*/ 159 h 211"/>
                <a:gd name="T82" fmla="*/ 201 w 895"/>
                <a:gd name="T83" fmla="*/ 159 h 211"/>
                <a:gd name="T84" fmla="*/ 201 w 895"/>
                <a:gd name="T85" fmla="*/ 122 h 211"/>
                <a:gd name="T86" fmla="*/ 238 w 895"/>
                <a:gd name="T87" fmla="*/ 122 h 211"/>
                <a:gd name="T88" fmla="*/ 238 w 895"/>
                <a:gd name="T89" fmla="*/ 159 h 211"/>
                <a:gd name="T90" fmla="*/ 815 w 895"/>
                <a:gd name="T91" fmla="*/ 0 h 211"/>
                <a:gd name="T92" fmla="*/ 80 w 895"/>
                <a:gd name="T93" fmla="*/ 0 h 211"/>
                <a:gd name="T94" fmla="*/ 0 w 895"/>
                <a:gd name="T95" fmla="*/ 211 h 211"/>
                <a:gd name="T96" fmla="*/ 895 w 895"/>
                <a:gd name="T97" fmla="*/ 211 h 211"/>
                <a:gd name="T98" fmla="*/ 815 w 895"/>
                <a:gd name="T9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95" h="211">
                  <a:moveTo>
                    <a:pt x="694" y="159"/>
                  </a:moveTo>
                  <a:lnTo>
                    <a:pt x="657" y="159"/>
                  </a:lnTo>
                  <a:lnTo>
                    <a:pt x="657" y="122"/>
                  </a:lnTo>
                  <a:lnTo>
                    <a:pt x="694" y="122"/>
                  </a:lnTo>
                  <a:lnTo>
                    <a:pt x="694" y="159"/>
                  </a:lnTo>
                  <a:close/>
                  <a:moveTo>
                    <a:pt x="637" y="103"/>
                  </a:moveTo>
                  <a:lnTo>
                    <a:pt x="600" y="103"/>
                  </a:lnTo>
                  <a:lnTo>
                    <a:pt x="600" y="65"/>
                  </a:lnTo>
                  <a:lnTo>
                    <a:pt x="637" y="65"/>
                  </a:lnTo>
                  <a:lnTo>
                    <a:pt x="637" y="103"/>
                  </a:lnTo>
                  <a:close/>
                  <a:moveTo>
                    <a:pt x="581" y="159"/>
                  </a:moveTo>
                  <a:lnTo>
                    <a:pt x="543" y="159"/>
                  </a:lnTo>
                  <a:lnTo>
                    <a:pt x="543" y="122"/>
                  </a:lnTo>
                  <a:lnTo>
                    <a:pt x="581" y="122"/>
                  </a:lnTo>
                  <a:lnTo>
                    <a:pt x="581" y="159"/>
                  </a:lnTo>
                  <a:close/>
                  <a:moveTo>
                    <a:pt x="524" y="103"/>
                  </a:moveTo>
                  <a:lnTo>
                    <a:pt x="485" y="103"/>
                  </a:lnTo>
                  <a:lnTo>
                    <a:pt x="485" y="65"/>
                  </a:lnTo>
                  <a:lnTo>
                    <a:pt x="524" y="65"/>
                  </a:lnTo>
                  <a:lnTo>
                    <a:pt x="524" y="103"/>
                  </a:lnTo>
                  <a:close/>
                  <a:moveTo>
                    <a:pt x="467" y="159"/>
                  </a:moveTo>
                  <a:lnTo>
                    <a:pt x="428" y="159"/>
                  </a:lnTo>
                  <a:lnTo>
                    <a:pt x="428" y="122"/>
                  </a:lnTo>
                  <a:lnTo>
                    <a:pt x="467" y="122"/>
                  </a:lnTo>
                  <a:lnTo>
                    <a:pt x="467" y="159"/>
                  </a:lnTo>
                  <a:close/>
                  <a:moveTo>
                    <a:pt x="410" y="103"/>
                  </a:moveTo>
                  <a:lnTo>
                    <a:pt x="371" y="103"/>
                  </a:lnTo>
                  <a:lnTo>
                    <a:pt x="371" y="65"/>
                  </a:lnTo>
                  <a:lnTo>
                    <a:pt x="410" y="65"/>
                  </a:lnTo>
                  <a:lnTo>
                    <a:pt x="410" y="103"/>
                  </a:lnTo>
                  <a:close/>
                  <a:moveTo>
                    <a:pt x="353" y="159"/>
                  </a:moveTo>
                  <a:lnTo>
                    <a:pt x="315" y="159"/>
                  </a:lnTo>
                  <a:lnTo>
                    <a:pt x="315" y="122"/>
                  </a:lnTo>
                  <a:lnTo>
                    <a:pt x="353" y="122"/>
                  </a:lnTo>
                  <a:lnTo>
                    <a:pt x="353" y="159"/>
                  </a:lnTo>
                  <a:close/>
                  <a:moveTo>
                    <a:pt x="295" y="103"/>
                  </a:moveTo>
                  <a:lnTo>
                    <a:pt x="258" y="103"/>
                  </a:lnTo>
                  <a:lnTo>
                    <a:pt x="258" y="65"/>
                  </a:lnTo>
                  <a:lnTo>
                    <a:pt x="295" y="65"/>
                  </a:lnTo>
                  <a:lnTo>
                    <a:pt x="295" y="103"/>
                  </a:lnTo>
                  <a:close/>
                  <a:moveTo>
                    <a:pt x="238" y="159"/>
                  </a:moveTo>
                  <a:lnTo>
                    <a:pt x="201" y="159"/>
                  </a:lnTo>
                  <a:lnTo>
                    <a:pt x="201" y="122"/>
                  </a:lnTo>
                  <a:lnTo>
                    <a:pt x="238" y="122"/>
                  </a:lnTo>
                  <a:lnTo>
                    <a:pt x="238" y="159"/>
                  </a:lnTo>
                  <a:close/>
                  <a:moveTo>
                    <a:pt x="815" y="0"/>
                  </a:moveTo>
                  <a:lnTo>
                    <a:pt x="80" y="0"/>
                  </a:lnTo>
                  <a:lnTo>
                    <a:pt x="0" y="211"/>
                  </a:lnTo>
                  <a:lnTo>
                    <a:pt x="895" y="211"/>
                  </a:lnTo>
                  <a:lnTo>
                    <a:pt x="8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322">
              <a:extLst>
                <a:ext uri="{FF2B5EF4-FFF2-40B4-BE49-F238E27FC236}">
                  <a16:creationId xmlns:a16="http://schemas.microsoft.com/office/drawing/2014/main" id="{346D5398-6E53-6DCB-3C0B-0F2197A793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800" y="1001713"/>
              <a:ext cx="287338" cy="57150"/>
            </a:xfrm>
            <a:custGeom>
              <a:avLst/>
              <a:gdLst>
                <a:gd name="T0" fmla="*/ 572 w 903"/>
                <a:gd name="T1" fmla="*/ 78 h 180"/>
                <a:gd name="T2" fmla="*/ 569 w 903"/>
                <a:gd name="T3" fmla="*/ 84 h 180"/>
                <a:gd name="T4" fmla="*/ 565 w 903"/>
                <a:gd name="T5" fmla="*/ 88 h 180"/>
                <a:gd name="T6" fmla="*/ 560 w 903"/>
                <a:gd name="T7" fmla="*/ 90 h 180"/>
                <a:gd name="T8" fmla="*/ 554 w 903"/>
                <a:gd name="T9" fmla="*/ 90 h 180"/>
                <a:gd name="T10" fmla="*/ 548 w 903"/>
                <a:gd name="T11" fmla="*/ 88 h 180"/>
                <a:gd name="T12" fmla="*/ 545 w 903"/>
                <a:gd name="T13" fmla="*/ 84 h 180"/>
                <a:gd name="T14" fmla="*/ 543 w 903"/>
                <a:gd name="T15" fmla="*/ 78 h 180"/>
                <a:gd name="T16" fmla="*/ 542 w 903"/>
                <a:gd name="T17" fmla="*/ 60 h 180"/>
                <a:gd name="T18" fmla="*/ 331 w 903"/>
                <a:gd name="T19" fmla="*/ 75 h 180"/>
                <a:gd name="T20" fmla="*/ 330 w 903"/>
                <a:gd name="T21" fmla="*/ 80 h 180"/>
                <a:gd name="T22" fmla="*/ 327 w 903"/>
                <a:gd name="T23" fmla="*/ 86 h 180"/>
                <a:gd name="T24" fmla="*/ 322 w 903"/>
                <a:gd name="T25" fmla="*/ 89 h 180"/>
                <a:gd name="T26" fmla="*/ 316 w 903"/>
                <a:gd name="T27" fmla="*/ 90 h 180"/>
                <a:gd name="T28" fmla="*/ 310 w 903"/>
                <a:gd name="T29" fmla="*/ 89 h 180"/>
                <a:gd name="T30" fmla="*/ 306 w 903"/>
                <a:gd name="T31" fmla="*/ 86 h 180"/>
                <a:gd name="T32" fmla="*/ 302 w 903"/>
                <a:gd name="T33" fmla="*/ 80 h 180"/>
                <a:gd name="T34" fmla="*/ 301 w 903"/>
                <a:gd name="T35" fmla="*/ 75 h 180"/>
                <a:gd name="T36" fmla="*/ 301 w 903"/>
                <a:gd name="T37" fmla="*/ 42 h 180"/>
                <a:gd name="T38" fmla="*/ 304 w 903"/>
                <a:gd name="T39" fmla="*/ 36 h 180"/>
                <a:gd name="T40" fmla="*/ 308 w 903"/>
                <a:gd name="T41" fmla="*/ 32 h 180"/>
                <a:gd name="T42" fmla="*/ 313 w 903"/>
                <a:gd name="T43" fmla="*/ 30 h 180"/>
                <a:gd name="T44" fmla="*/ 557 w 903"/>
                <a:gd name="T45" fmla="*/ 30 h 180"/>
                <a:gd name="T46" fmla="*/ 563 w 903"/>
                <a:gd name="T47" fmla="*/ 31 h 180"/>
                <a:gd name="T48" fmla="*/ 567 w 903"/>
                <a:gd name="T49" fmla="*/ 34 h 180"/>
                <a:gd name="T50" fmla="*/ 571 w 903"/>
                <a:gd name="T51" fmla="*/ 39 h 180"/>
                <a:gd name="T52" fmla="*/ 572 w 903"/>
                <a:gd name="T53" fmla="*/ 45 h 180"/>
                <a:gd name="T54" fmla="*/ 0 w 903"/>
                <a:gd name="T55" fmla="*/ 0 h 180"/>
                <a:gd name="T56" fmla="*/ 0 w 903"/>
                <a:gd name="T57" fmla="*/ 168 h 180"/>
                <a:gd name="T58" fmla="*/ 2 w 903"/>
                <a:gd name="T59" fmla="*/ 174 h 180"/>
                <a:gd name="T60" fmla="*/ 6 w 903"/>
                <a:gd name="T61" fmla="*/ 178 h 180"/>
                <a:gd name="T62" fmla="*/ 12 w 903"/>
                <a:gd name="T63" fmla="*/ 180 h 180"/>
                <a:gd name="T64" fmla="*/ 888 w 903"/>
                <a:gd name="T65" fmla="*/ 180 h 180"/>
                <a:gd name="T66" fmla="*/ 894 w 903"/>
                <a:gd name="T67" fmla="*/ 179 h 180"/>
                <a:gd name="T68" fmla="*/ 899 w 903"/>
                <a:gd name="T69" fmla="*/ 176 h 180"/>
                <a:gd name="T70" fmla="*/ 902 w 903"/>
                <a:gd name="T71" fmla="*/ 172 h 180"/>
                <a:gd name="T72" fmla="*/ 903 w 903"/>
                <a:gd name="T73" fmla="*/ 165 h 180"/>
                <a:gd name="T74" fmla="*/ 0 w 903"/>
                <a:gd name="T7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03" h="180">
                  <a:moveTo>
                    <a:pt x="572" y="75"/>
                  </a:moveTo>
                  <a:lnTo>
                    <a:pt x="572" y="78"/>
                  </a:lnTo>
                  <a:lnTo>
                    <a:pt x="571" y="80"/>
                  </a:lnTo>
                  <a:lnTo>
                    <a:pt x="569" y="84"/>
                  </a:lnTo>
                  <a:lnTo>
                    <a:pt x="567" y="86"/>
                  </a:lnTo>
                  <a:lnTo>
                    <a:pt x="565" y="88"/>
                  </a:lnTo>
                  <a:lnTo>
                    <a:pt x="563" y="89"/>
                  </a:lnTo>
                  <a:lnTo>
                    <a:pt x="560" y="90"/>
                  </a:lnTo>
                  <a:lnTo>
                    <a:pt x="557" y="90"/>
                  </a:lnTo>
                  <a:lnTo>
                    <a:pt x="554" y="90"/>
                  </a:lnTo>
                  <a:lnTo>
                    <a:pt x="551" y="89"/>
                  </a:lnTo>
                  <a:lnTo>
                    <a:pt x="548" y="88"/>
                  </a:lnTo>
                  <a:lnTo>
                    <a:pt x="546" y="86"/>
                  </a:lnTo>
                  <a:lnTo>
                    <a:pt x="545" y="84"/>
                  </a:lnTo>
                  <a:lnTo>
                    <a:pt x="543" y="80"/>
                  </a:lnTo>
                  <a:lnTo>
                    <a:pt x="543" y="78"/>
                  </a:lnTo>
                  <a:lnTo>
                    <a:pt x="542" y="75"/>
                  </a:lnTo>
                  <a:lnTo>
                    <a:pt x="542" y="60"/>
                  </a:lnTo>
                  <a:lnTo>
                    <a:pt x="331" y="60"/>
                  </a:lnTo>
                  <a:lnTo>
                    <a:pt x="331" y="75"/>
                  </a:lnTo>
                  <a:lnTo>
                    <a:pt x="331" y="78"/>
                  </a:lnTo>
                  <a:lnTo>
                    <a:pt x="330" y="80"/>
                  </a:lnTo>
                  <a:lnTo>
                    <a:pt x="328" y="84"/>
                  </a:lnTo>
                  <a:lnTo>
                    <a:pt x="327" y="86"/>
                  </a:lnTo>
                  <a:lnTo>
                    <a:pt x="325" y="88"/>
                  </a:lnTo>
                  <a:lnTo>
                    <a:pt x="322" y="89"/>
                  </a:lnTo>
                  <a:lnTo>
                    <a:pt x="320" y="90"/>
                  </a:lnTo>
                  <a:lnTo>
                    <a:pt x="316" y="90"/>
                  </a:lnTo>
                  <a:lnTo>
                    <a:pt x="313" y="90"/>
                  </a:lnTo>
                  <a:lnTo>
                    <a:pt x="310" y="89"/>
                  </a:lnTo>
                  <a:lnTo>
                    <a:pt x="308" y="88"/>
                  </a:lnTo>
                  <a:lnTo>
                    <a:pt x="306" y="86"/>
                  </a:lnTo>
                  <a:lnTo>
                    <a:pt x="304" y="84"/>
                  </a:lnTo>
                  <a:lnTo>
                    <a:pt x="302" y="80"/>
                  </a:lnTo>
                  <a:lnTo>
                    <a:pt x="301" y="78"/>
                  </a:lnTo>
                  <a:lnTo>
                    <a:pt x="301" y="75"/>
                  </a:lnTo>
                  <a:lnTo>
                    <a:pt x="301" y="45"/>
                  </a:lnTo>
                  <a:lnTo>
                    <a:pt x="301" y="42"/>
                  </a:lnTo>
                  <a:lnTo>
                    <a:pt x="302" y="39"/>
                  </a:lnTo>
                  <a:lnTo>
                    <a:pt x="304" y="36"/>
                  </a:lnTo>
                  <a:lnTo>
                    <a:pt x="306" y="34"/>
                  </a:lnTo>
                  <a:lnTo>
                    <a:pt x="308" y="32"/>
                  </a:lnTo>
                  <a:lnTo>
                    <a:pt x="310" y="31"/>
                  </a:lnTo>
                  <a:lnTo>
                    <a:pt x="313" y="30"/>
                  </a:lnTo>
                  <a:lnTo>
                    <a:pt x="316" y="30"/>
                  </a:lnTo>
                  <a:lnTo>
                    <a:pt x="557" y="30"/>
                  </a:lnTo>
                  <a:lnTo>
                    <a:pt x="560" y="30"/>
                  </a:lnTo>
                  <a:lnTo>
                    <a:pt x="563" y="31"/>
                  </a:lnTo>
                  <a:lnTo>
                    <a:pt x="565" y="32"/>
                  </a:lnTo>
                  <a:lnTo>
                    <a:pt x="567" y="34"/>
                  </a:lnTo>
                  <a:lnTo>
                    <a:pt x="569" y="36"/>
                  </a:lnTo>
                  <a:lnTo>
                    <a:pt x="571" y="39"/>
                  </a:lnTo>
                  <a:lnTo>
                    <a:pt x="572" y="42"/>
                  </a:lnTo>
                  <a:lnTo>
                    <a:pt x="572" y="45"/>
                  </a:lnTo>
                  <a:lnTo>
                    <a:pt x="572" y="75"/>
                  </a:lnTo>
                  <a:close/>
                  <a:moveTo>
                    <a:pt x="0" y="0"/>
                  </a:moveTo>
                  <a:lnTo>
                    <a:pt x="0" y="165"/>
                  </a:lnTo>
                  <a:lnTo>
                    <a:pt x="0" y="168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8"/>
                  </a:lnTo>
                  <a:lnTo>
                    <a:pt x="10" y="179"/>
                  </a:lnTo>
                  <a:lnTo>
                    <a:pt x="12" y="180"/>
                  </a:lnTo>
                  <a:lnTo>
                    <a:pt x="15" y="180"/>
                  </a:lnTo>
                  <a:lnTo>
                    <a:pt x="888" y="180"/>
                  </a:lnTo>
                  <a:lnTo>
                    <a:pt x="891" y="180"/>
                  </a:lnTo>
                  <a:lnTo>
                    <a:pt x="894" y="179"/>
                  </a:lnTo>
                  <a:lnTo>
                    <a:pt x="897" y="178"/>
                  </a:lnTo>
                  <a:lnTo>
                    <a:pt x="899" y="176"/>
                  </a:lnTo>
                  <a:lnTo>
                    <a:pt x="901" y="174"/>
                  </a:lnTo>
                  <a:lnTo>
                    <a:pt x="902" y="172"/>
                  </a:lnTo>
                  <a:lnTo>
                    <a:pt x="903" y="168"/>
                  </a:lnTo>
                  <a:lnTo>
                    <a:pt x="903" y="165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323">
              <a:extLst>
                <a:ext uri="{FF2B5EF4-FFF2-40B4-BE49-F238E27FC236}">
                  <a16:creationId xmlns:a16="http://schemas.microsoft.com/office/drawing/2014/main" id="{45277A28-9442-CEE5-9A6B-3A47D39991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375" y="771525"/>
              <a:ext cx="230188" cy="142875"/>
            </a:xfrm>
            <a:custGeom>
              <a:avLst/>
              <a:gdLst>
                <a:gd name="T0" fmla="*/ 448 w 723"/>
                <a:gd name="T1" fmla="*/ 361 h 452"/>
                <a:gd name="T2" fmla="*/ 441 w 723"/>
                <a:gd name="T3" fmla="*/ 357 h 452"/>
                <a:gd name="T4" fmla="*/ 438 w 723"/>
                <a:gd name="T5" fmla="*/ 350 h 452"/>
                <a:gd name="T6" fmla="*/ 438 w 723"/>
                <a:gd name="T7" fmla="*/ 340 h 452"/>
                <a:gd name="T8" fmla="*/ 443 w 723"/>
                <a:gd name="T9" fmla="*/ 334 h 452"/>
                <a:gd name="T10" fmla="*/ 452 w 723"/>
                <a:gd name="T11" fmla="*/ 331 h 452"/>
                <a:gd name="T12" fmla="*/ 608 w 723"/>
                <a:gd name="T13" fmla="*/ 333 h 452"/>
                <a:gd name="T14" fmla="*/ 615 w 723"/>
                <a:gd name="T15" fmla="*/ 338 h 452"/>
                <a:gd name="T16" fmla="*/ 618 w 723"/>
                <a:gd name="T17" fmla="*/ 346 h 452"/>
                <a:gd name="T18" fmla="*/ 615 w 723"/>
                <a:gd name="T19" fmla="*/ 355 h 452"/>
                <a:gd name="T20" fmla="*/ 608 w 723"/>
                <a:gd name="T21" fmla="*/ 360 h 452"/>
                <a:gd name="T22" fmla="*/ 331 w 723"/>
                <a:gd name="T23" fmla="*/ 407 h 452"/>
                <a:gd name="T24" fmla="*/ 329 w 723"/>
                <a:gd name="T25" fmla="*/ 415 h 452"/>
                <a:gd name="T26" fmla="*/ 322 w 723"/>
                <a:gd name="T27" fmla="*/ 420 h 452"/>
                <a:gd name="T28" fmla="*/ 105 w 723"/>
                <a:gd name="T29" fmla="*/ 422 h 452"/>
                <a:gd name="T30" fmla="*/ 98 w 723"/>
                <a:gd name="T31" fmla="*/ 419 h 452"/>
                <a:gd name="T32" fmla="*/ 92 w 723"/>
                <a:gd name="T33" fmla="*/ 412 h 452"/>
                <a:gd name="T34" fmla="*/ 90 w 723"/>
                <a:gd name="T35" fmla="*/ 286 h 452"/>
                <a:gd name="T36" fmla="*/ 93 w 723"/>
                <a:gd name="T37" fmla="*/ 278 h 452"/>
                <a:gd name="T38" fmla="*/ 100 w 723"/>
                <a:gd name="T39" fmla="*/ 272 h 452"/>
                <a:gd name="T40" fmla="*/ 316 w 723"/>
                <a:gd name="T41" fmla="*/ 271 h 452"/>
                <a:gd name="T42" fmla="*/ 325 w 723"/>
                <a:gd name="T43" fmla="*/ 274 h 452"/>
                <a:gd name="T44" fmla="*/ 330 w 723"/>
                <a:gd name="T45" fmla="*/ 280 h 452"/>
                <a:gd name="T46" fmla="*/ 331 w 723"/>
                <a:gd name="T47" fmla="*/ 407 h 452"/>
                <a:gd name="T48" fmla="*/ 722 w 723"/>
                <a:gd name="T49" fmla="*/ 220 h 452"/>
                <a:gd name="T50" fmla="*/ 717 w 723"/>
                <a:gd name="T51" fmla="*/ 213 h 452"/>
                <a:gd name="T52" fmla="*/ 708 w 723"/>
                <a:gd name="T53" fmla="*/ 211 h 452"/>
                <a:gd name="T54" fmla="*/ 678 w 723"/>
                <a:gd name="T55" fmla="*/ 150 h 452"/>
                <a:gd name="T56" fmla="*/ 703 w 723"/>
                <a:gd name="T57" fmla="*/ 143 h 452"/>
                <a:gd name="T58" fmla="*/ 720 w 723"/>
                <a:gd name="T59" fmla="*/ 123 h 452"/>
                <a:gd name="T60" fmla="*/ 723 w 723"/>
                <a:gd name="T61" fmla="*/ 45 h 452"/>
                <a:gd name="T62" fmla="*/ 715 w 723"/>
                <a:gd name="T63" fmla="*/ 20 h 452"/>
                <a:gd name="T64" fmla="*/ 695 w 723"/>
                <a:gd name="T65" fmla="*/ 3 h 452"/>
                <a:gd name="T66" fmla="*/ 497 w 723"/>
                <a:gd name="T67" fmla="*/ 0 h 452"/>
                <a:gd name="T68" fmla="*/ 472 w 723"/>
                <a:gd name="T69" fmla="*/ 8 h 452"/>
                <a:gd name="T70" fmla="*/ 456 w 723"/>
                <a:gd name="T71" fmla="*/ 28 h 452"/>
                <a:gd name="T72" fmla="*/ 452 w 723"/>
                <a:gd name="T73" fmla="*/ 105 h 452"/>
                <a:gd name="T74" fmla="*/ 460 w 723"/>
                <a:gd name="T75" fmla="*/ 131 h 452"/>
                <a:gd name="T76" fmla="*/ 479 w 723"/>
                <a:gd name="T77" fmla="*/ 147 h 452"/>
                <a:gd name="T78" fmla="*/ 573 w 723"/>
                <a:gd name="T79" fmla="*/ 150 h 452"/>
                <a:gd name="T80" fmla="*/ 301 w 723"/>
                <a:gd name="T81" fmla="*/ 75 h 452"/>
                <a:gd name="T82" fmla="*/ 297 w 723"/>
                <a:gd name="T83" fmla="*/ 65 h 452"/>
                <a:gd name="T84" fmla="*/ 288 w 723"/>
                <a:gd name="T85" fmla="*/ 60 h 452"/>
                <a:gd name="T86" fmla="*/ 130 w 723"/>
                <a:gd name="T87" fmla="*/ 121 h 452"/>
                <a:gd name="T88" fmla="*/ 121 w 723"/>
                <a:gd name="T89" fmla="*/ 131 h 452"/>
                <a:gd name="T90" fmla="*/ 15 w 723"/>
                <a:gd name="T91" fmla="*/ 211 h 452"/>
                <a:gd name="T92" fmla="*/ 7 w 723"/>
                <a:gd name="T93" fmla="*/ 213 h 452"/>
                <a:gd name="T94" fmla="*/ 1 w 723"/>
                <a:gd name="T95" fmla="*/ 220 h 452"/>
                <a:gd name="T96" fmla="*/ 0 w 723"/>
                <a:gd name="T97" fmla="*/ 45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3" h="452">
                  <a:moveTo>
                    <a:pt x="603" y="361"/>
                  </a:moveTo>
                  <a:lnTo>
                    <a:pt x="452" y="361"/>
                  </a:lnTo>
                  <a:lnTo>
                    <a:pt x="448" y="361"/>
                  </a:lnTo>
                  <a:lnTo>
                    <a:pt x="446" y="360"/>
                  </a:lnTo>
                  <a:lnTo>
                    <a:pt x="443" y="359"/>
                  </a:lnTo>
                  <a:lnTo>
                    <a:pt x="441" y="357"/>
                  </a:lnTo>
                  <a:lnTo>
                    <a:pt x="440" y="355"/>
                  </a:lnTo>
                  <a:lnTo>
                    <a:pt x="438" y="352"/>
                  </a:lnTo>
                  <a:lnTo>
                    <a:pt x="438" y="350"/>
                  </a:lnTo>
                  <a:lnTo>
                    <a:pt x="437" y="346"/>
                  </a:lnTo>
                  <a:lnTo>
                    <a:pt x="438" y="343"/>
                  </a:lnTo>
                  <a:lnTo>
                    <a:pt x="438" y="340"/>
                  </a:lnTo>
                  <a:lnTo>
                    <a:pt x="440" y="338"/>
                  </a:lnTo>
                  <a:lnTo>
                    <a:pt x="441" y="336"/>
                  </a:lnTo>
                  <a:lnTo>
                    <a:pt x="443" y="334"/>
                  </a:lnTo>
                  <a:lnTo>
                    <a:pt x="446" y="333"/>
                  </a:lnTo>
                  <a:lnTo>
                    <a:pt x="448" y="331"/>
                  </a:lnTo>
                  <a:lnTo>
                    <a:pt x="452" y="331"/>
                  </a:lnTo>
                  <a:lnTo>
                    <a:pt x="603" y="331"/>
                  </a:lnTo>
                  <a:lnTo>
                    <a:pt x="605" y="331"/>
                  </a:lnTo>
                  <a:lnTo>
                    <a:pt x="608" y="333"/>
                  </a:lnTo>
                  <a:lnTo>
                    <a:pt x="610" y="334"/>
                  </a:lnTo>
                  <a:lnTo>
                    <a:pt x="614" y="336"/>
                  </a:lnTo>
                  <a:lnTo>
                    <a:pt x="615" y="338"/>
                  </a:lnTo>
                  <a:lnTo>
                    <a:pt x="617" y="340"/>
                  </a:lnTo>
                  <a:lnTo>
                    <a:pt x="617" y="343"/>
                  </a:lnTo>
                  <a:lnTo>
                    <a:pt x="618" y="346"/>
                  </a:lnTo>
                  <a:lnTo>
                    <a:pt x="617" y="350"/>
                  </a:lnTo>
                  <a:lnTo>
                    <a:pt x="617" y="352"/>
                  </a:lnTo>
                  <a:lnTo>
                    <a:pt x="615" y="355"/>
                  </a:lnTo>
                  <a:lnTo>
                    <a:pt x="614" y="357"/>
                  </a:lnTo>
                  <a:lnTo>
                    <a:pt x="610" y="359"/>
                  </a:lnTo>
                  <a:lnTo>
                    <a:pt x="608" y="360"/>
                  </a:lnTo>
                  <a:lnTo>
                    <a:pt x="605" y="361"/>
                  </a:lnTo>
                  <a:lnTo>
                    <a:pt x="603" y="361"/>
                  </a:lnTo>
                  <a:close/>
                  <a:moveTo>
                    <a:pt x="331" y="407"/>
                  </a:moveTo>
                  <a:lnTo>
                    <a:pt x="331" y="410"/>
                  </a:lnTo>
                  <a:lnTo>
                    <a:pt x="330" y="412"/>
                  </a:lnTo>
                  <a:lnTo>
                    <a:pt x="329" y="415"/>
                  </a:lnTo>
                  <a:lnTo>
                    <a:pt x="327" y="417"/>
                  </a:lnTo>
                  <a:lnTo>
                    <a:pt x="325" y="419"/>
                  </a:lnTo>
                  <a:lnTo>
                    <a:pt x="322" y="420"/>
                  </a:lnTo>
                  <a:lnTo>
                    <a:pt x="320" y="422"/>
                  </a:lnTo>
                  <a:lnTo>
                    <a:pt x="316" y="422"/>
                  </a:lnTo>
                  <a:lnTo>
                    <a:pt x="105" y="422"/>
                  </a:lnTo>
                  <a:lnTo>
                    <a:pt x="103" y="422"/>
                  </a:lnTo>
                  <a:lnTo>
                    <a:pt x="100" y="420"/>
                  </a:lnTo>
                  <a:lnTo>
                    <a:pt x="98" y="419"/>
                  </a:lnTo>
                  <a:lnTo>
                    <a:pt x="96" y="417"/>
                  </a:lnTo>
                  <a:lnTo>
                    <a:pt x="93" y="415"/>
                  </a:lnTo>
                  <a:lnTo>
                    <a:pt x="92" y="412"/>
                  </a:lnTo>
                  <a:lnTo>
                    <a:pt x="91" y="410"/>
                  </a:lnTo>
                  <a:lnTo>
                    <a:pt x="90" y="407"/>
                  </a:lnTo>
                  <a:lnTo>
                    <a:pt x="90" y="286"/>
                  </a:lnTo>
                  <a:lnTo>
                    <a:pt x="91" y="283"/>
                  </a:lnTo>
                  <a:lnTo>
                    <a:pt x="92" y="280"/>
                  </a:lnTo>
                  <a:lnTo>
                    <a:pt x="93" y="278"/>
                  </a:lnTo>
                  <a:lnTo>
                    <a:pt x="96" y="276"/>
                  </a:lnTo>
                  <a:lnTo>
                    <a:pt x="98" y="274"/>
                  </a:lnTo>
                  <a:lnTo>
                    <a:pt x="100" y="272"/>
                  </a:lnTo>
                  <a:lnTo>
                    <a:pt x="103" y="271"/>
                  </a:lnTo>
                  <a:lnTo>
                    <a:pt x="105" y="271"/>
                  </a:lnTo>
                  <a:lnTo>
                    <a:pt x="316" y="271"/>
                  </a:lnTo>
                  <a:lnTo>
                    <a:pt x="320" y="271"/>
                  </a:lnTo>
                  <a:lnTo>
                    <a:pt x="322" y="272"/>
                  </a:lnTo>
                  <a:lnTo>
                    <a:pt x="325" y="274"/>
                  </a:lnTo>
                  <a:lnTo>
                    <a:pt x="327" y="276"/>
                  </a:lnTo>
                  <a:lnTo>
                    <a:pt x="329" y="278"/>
                  </a:lnTo>
                  <a:lnTo>
                    <a:pt x="330" y="280"/>
                  </a:lnTo>
                  <a:lnTo>
                    <a:pt x="331" y="283"/>
                  </a:lnTo>
                  <a:lnTo>
                    <a:pt x="331" y="286"/>
                  </a:lnTo>
                  <a:lnTo>
                    <a:pt x="331" y="407"/>
                  </a:lnTo>
                  <a:close/>
                  <a:moveTo>
                    <a:pt x="723" y="226"/>
                  </a:moveTo>
                  <a:lnTo>
                    <a:pt x="723" y="223"/>
                  </a:lnTo>
                  <a:lnTo>
                    <a:pt x="722" y="220"/>
                  </a:lnTo>
                  <a:lnTo>
                    <a:pt x="721" y="218"/>
                  </a:lnTo>
                  <a:lnTo>
                    <a:pt x="719" y="216"/>
                  </a:lnTo>
                  <a:lnTo>
                    <a:pt x="717" y="213"/>
                  </a:lnTo>
                  <a:lnTo>
                    <a:pt x="713" y="212"/>
                  </a:lnTo>
                  <a:lnTo>
                    <a:pt x="711" y="211"/>
                  </a:lnTo>
                  <a:lnTo>
                    <a:pt x="708" y="211"/>
                  </a:lnTo>
                  <a:lnTo>
                    <a:pt x="603" y="211"/>
                  </a:lnTo>
                  <a:lnTo>
                    <a:pt x="603" y="150"/>
                  </a:lnTo>
                  <a:lnTo>
                    <a:pt x="678" y="150"/>
                  </a:lnTo>
                  <a:lnTo>
                    <a:pt x="686" y="149"/>
                  </a:lnTo>
                  <a:lnTo>
                    <a:pt x="695" y="147"/>
                  </a:lnTo>
                  <a:lnTo>
                    <a:pt x="703" y="143"/>
                  </a:lnTo>
                  <a:lnTo>
                    <a:pt x="710" y="137"/>
                  </a:lnTo>
                  <a:lnTo>
                    <a:pt x="715" y="131"/>
                  </a:lnTo>
                  <a:lnTo>
                    <a:pt x="720" y="123"/>
                  </a:lnTo>
                  <a:lnTo>
                    <a:pt x="722" y="115"/>
                  </a:lnTo>
                  <a:lnTo>
                    <a:pt x="723" y="105"/>
                  </a:lnTo>
                  <a:lnTo>
                    <a:pt x="723" y="45"/>
                  </a:lnTo>
                  <a:lnTo>
                    <a:pt x="722" y="36"/>
                  </a:lnTo>
                  <a:lnTo>
                    <a:pt x="720" y="28"/>
                  </a:lnTo>
                  <a:lnTo>
                    <a:pt x="715" y="20"/>
                  </a:lnTo>
                  <a:lnTo>
                    <a:pt x="710" y="13"/>
                  </a:lnTo>
                  <a:lnTo>
                    <a:pt x="703" y="8"/>
                  </a:lnTo>
                  <a:lnTo>
                    <a:pt x="695" y="3"/>
                  </a:lnTo>
                  <a:lnTo>
                    <a:pt x="686" y="1"/>
                  </a:lnTo>
                  <a:lnTo>
                    <a:pt x="678" y="0"/>
                  </a:lnTo>
                  <a:lnTo>
                    <a:pt x="497" y="0"/>
                  </a:lnTo>
                  <a:lnTo>
                    <a:pt x="488" y="1"/>
                  </a:lnTo>
                  <a:lnTo>
                    <a:pt x="479" y="3"/>
                  </a:lnTo>
                  <a:lnTo>
                    <a:pt x="472" y="8"/>
                  </a:lnTo>
                  <a:lnTo>
                    <a:pt x="466" y="13"/>
                  </a:lnTo>
                  <a:lnTo>
                    <a:pt x="460" y="20"/>
                  </a:lnTo>
                  <a:lnTo>
                    <a:pt x="456" y="28"/>
                  </a:lnTo>
                  <a:lnTo>
                    <a:pt x="453" y="36"/>
                  </a:lnTo>
                  <a:lnTo>
                    <a:pt x="452" y="45"/>
                  </a:lnTo>
                  <a:lnTo>
                    <a:pt x="452" y="105"/>
                  </a:lnTo>
                  <a:lnTo>
                    <a:pt x="453" y="115"/>
                  </a:lnTo>
                  <a:lnTo>
                    <a:pt x="456" y="123"/>
                  </a:lnTo>
                  <a:lnTo>
                    <a:pt x="460" y="131"/>
                  </a:lnTo>
                  <a:lnTo>
                    <a:pt x="466" y="137"/>
                  </a:lnTo>
                  <a:lnTo>
                    <a:pt x="472" y="143"/>
                  </a:lnTo>
                  <a:lnTo>
                    <a:pt x="479" y="147"/>
                  </a:lnTo>
                  <a:lnTo>
                    <a:pt x="488" y="150"/>
                  </a:lnTo>
                  <a:lnTo>
                    <a:pt x="497" y="150"/>
                  </a:lnTo>
                  <a:lnTo>
                    <a:pt x="573" y="150"/>
                  </a:lnTo>
                  <a:lnTo>
                    <a:pt x="573" y="211"/>
                  </a:lnTo>
                  <a:lnTo>
                    <a:pt x="301" y="211"/>
                  </a:lnTo>
                  <a:lnTo>
                    <a:pt x="301" y="75"/>
                  </a:lnTo>
                  <a:lnTo>
                    <a:pt x="301" y="72"/>
                  </a:lnTo>
                  <a:lnTo>
                    <a:pt x="299" y="69"/>
                  </a:lnTo>
                  <a:lnTo>
                    <a:pt x="297" y="65"/>
                  </a:lnTo>
                  <a:lnTo>
                    <a:pt x="295" y="63"/>
                  </a:lnTo>
                  <a:lnTo>
                    <a:pt x="292" y="61"/>
                  </a:lnTo>
                  <a:lnTo>
                    <a:pt x="288" y="60"/>
                  </a:lnTo>
                  <a:lnTo>
                    <a:pt x="284" y="60"/>
                  </a:lnTo>
                  <a:lnTo>
                    <a:pt x="281" y="61"/>
                  </a:lnTo>
                  <a:lnTo>
                    <a:pt x="130" y="121"/>
                  </a:lnTo>
                  <a:lnTo>
                    <a:pt x="127" y="123"/>
                  </a:lnTo>
                  <a:lnTo>
                    <a:pt x="123" y="128"/>
                  </a:lnTo>
                  <a:lnTo>
                    <a:pt x="121" y="131"/>
                  </a:lnTo>
                  <a:lnTo>
                    <a:pt x="121" y="135"/>
                  </a:lnTo>
                  <a:lnTo>
                    <a:pt x="121" y="211"/>
                  </a:lnTo>
                  <a:lnTo>
                    <a:pt x="15" y="211"/>
                  </a:lnTo>
                  <a:lnTo>
                    <a:pt x="12" y="211"/>
                  </a:lnTo>
                  <a:lnTo>
                    <a:pt x="10" y="212"/>
                  </a:lnTo>
                  <a:lnTo>
                    <a:pt x="7" y="213"/>
                  </a:lnTo>
                  <a:lnTo>
                    <a:pt x="4" y="216"/>
                  </a:lnTo>
                  <a:lnTo>
                    <a:pt x="3" y="218"/>
                  </a:lnTo>
                  <a:lnTo>
                    <a:pt x="1" y="220"/>
                  </a:lnTo>
                  <a:lnTo>
                    <a:pt x="1" y="223"/>
                  </a:lnTo>
                  <a:lnTo>
                    <a:pt x="0" y="226"/>
                  </a:lnTo>
                  <a:lnTo>
                    <a:pt x="0" y="452"/>
                  </a:lnTo>
                  <a:lnTo>
                    <a:pt x="723" y="452"/>
                  </a:lnTo>
                  <a:lnTo>
                    <a:pt x="723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FED5F9E0-8EB6-CD92-D731-8DAB48EFC5B1}"/>
              </a:ext>
            </a:extLst>
          </p:cNvPr>
          <p:cNvSpPr/>
          <p:nvPr/>
        </p:nvSpPr>
        <p:spPr>
          <a:xfrm>
            <a:off x="10598852" y="1827649"/>
            <a:ext cx="1200971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</a:rPr>
              <a:t>$704.78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6FCACBF-EB12-94C9-FB4F-4EB3FD745F23}"/>
              </a:ext>
            </a:extLst>
          </p:cNvPr>
          <p:cNvSpPr/>
          <p:nvPr/>
        </p:nvSpPr>
        <p:spPr>
          <a:xfrm>
            <a:off x="10885423" y="2580055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$191.01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F7F0C68-5D69-9C18-8700-ECC2A53332FF}"/>
              </a:ext>
            </a:extLst>
          </p:cNvPr>
          <p:cNvSpPr/>
          <p:nvPr/>
        </p:nvSpPr>
        <p:spPr>
          <a:xfrm>
            <a:off x="10885423" y="2994209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$189.31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221F4BC-0B89-DD44-F8DE-61C08034A0B1}"/>
              </a:ext>
            </a:extLst>
          </p:cNvPr>
          <p:cNvSpPr/>
          <p:nvPr/>
        </p:nvSpPr>
        <p:spPr>
          <a:xfrm>
            <a:off x="10885423" y="3412943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$186.54</a:t>
            </a:r>
          </a:p>
        </p:txBody>
      </p:sp>
      <p:sp>
        <p:nvSpPr>
          <p:cNvPr id="194" name="Freeform 154" descr="This is the logo for Facebook.">
            <a:extLst>
              <a:ext uri="{FF2B5EF4-FFF2-40B4-BE49-F238E27FC236}">
                <a16:creationId xmlns:a16="http://schemas.microsoft.com/office/drawing/2014/main" id="{F501CFC4-DEC7-240F-ECC2-A564D1C32876}"/>
              </a:ext>
            </a:extLst>
          </p:cNvPr>
          <p:cNvSpPr>
            <a:spLocks/>
          </p:cNvSpPr>
          <p:nvPr/>
        </p:nvSpPr>
        <p:spPr bwMode="auto">
          <a:xfrm>
            <a:off x="8689204" y="4222451"/>
            <a:ext cx="138355" cy="258819"/>
          </a:xfrm>
          <a:custGeom>
            <a:avLst/>
            <a:gdLst>
              <a:gd name="T0" fmla="*/ 49 w 49"/>
              <a:gd name="T1" fmla="*/ 28 h 92"/>
              <a:gd name="T2" fmla="*/ 32 w 49"/>
              <a:gd name="T3" fmla="*/ 28 h 92"/>
              <a:gd name="T4" fmla="*/ 32 w 49"/>
              <a:gd name="T5" fmla="*/ 20 h 92"/>
              <a:gd name="T6" fmla="*/ 36 w 49"/>
              <a:gd name="T7" fmla="*/ 16 h 92"/>
              <a:gd name="T8" fmla="*/ 48 w 49"/>
              <a:gd name="T9" fmla="*/ 16 h 92"/>
              <a:gd name="T10" fmla="*/ 48 w 49"/>
              <a:gd name="T11" fmla="*/ 0 h 92"/>
              <a:gd name="T12" fmla="*/ 31 w 49"/>
              <a:gd name="T13" fmla="*/ 0 h 92"/>
              <a:gd name="T14" fmla="*/ 12 w 49"/>
              <a:gd name="T15" fmla="*/ 19 h 92"/>
              <a:gd name="T16" fmla="*/ 12 w 49"/>
              <a:gd name="T17" fmla="*/ 28 h 92"/>
              <a:gd name="T18" fmla="*/ 0 w 49"/>
              <a:gd name="T19" fmla="*/ 28 h 92"/>
              <a:gd name="T20" fmla="*/ 0 w 49"/>
              <a:gd name="T21" fmla="*/ 44 h 92"/>
              <a:gd name="T22" fmla="*/ 12 w 49"/>
              <a:gd name="T23" fmla="*/ 44 h 92"/>
              <a:gd name="T24" fmla="*/ 12 w 49"/>
              <a:gd name="T25" fmla="*/ 92 h 92"/>
              <a:gd name="T26" fmla="*/ 32 w 49"/>
              <a:gd name="T27" fmla="*/ 92 h 92"/>
              <a:gd name="T28" fmla="*/ 32 w 49"/>
              <a:gd name="T29" fmla="*/ 44 h 92"/>
              <a:gd name="T30" fmla="*/ 47 w 49"/>
              <a:gd name="T31" fmla="*/ 44 h 92"/>
              <a:gd name="T32" fmla="*/ 49 w 49"/>
              <a:gd name="T33" fmla="*/ 2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9" h="92">
                <a:moveTo>
                  <a:pt x="49" y="28"/>
                </a:moveTo>
                <a:cubicBezTo>
                  <a:pt x="32" y="28"/>
                  <a:pt x="32" y="28"/>
                  <a:pt x="32" y="28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17"/>
                  <a:pt x="34" y="16"/>
                  <a:pt x="36" y="16"/>
                </a:cubicBezTo>
                <a:cubicBezTo>
                  <a:pt x="38" y="16"/>
                  <a:pt x="48" y="16"/>
                  <a:pt x="48" y="16"/>
                </a:cubicBezTo>
                <a:cubicBezTo>
                  <a:pt x="48" y="0"/>
                  <a:pt x="48" y="0"/>
                  <a:pt x="48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15" y="0"/>
                  <a:pt x="12" y="12"/>
                  <a:pt x="12" y="19"/>
                </a:cubicBezTo>
                <a:cubicBezTo>
                  <a:pt x="12" y="28"/>
                  <a:pt x="12" y="28"/>
                  <a:pt x="12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44"/>
                  <a:pt x="0" y="44"/>
                  <a:pt x="0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65"/>
                  <a:pt x="12" y="92"/>
                  <a:pt x="12" y="92"/>
                </a:cubicBezTo>
                <a:cubicBezTo>
                  <a:pt x="32" y="92"/>
                  <a:pt x="32" y="92"/>
                  <a:pt x="32" y="92"/>
                </a:cubicBezTo>
                <a:cubicBezTo>
                  <a:pt x="32" y="92"/>
                  <a:pt x="32" y="64"/>
                  <a:pt x="32" y="44"/>
                </a:cubicBezTo>
                <a:cubicBezTo>
                  <a:pt x="47" y="44"/>
                  <a:pt x="47" y="44"/>
                  <a:pt x="47" y="44"/>
                </a:cubicBezTo>
                <a:lnTo>
                  <a:pt x="49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162" descr="This is the logo for Twitter.">
            <a:extLst>
              <a:ext uri="{FF2B5EF4-FFF2-40B4-BE49-F238E27FC236}">
                <a16:creationId xmlns:a16="http://schemas.microsoft.com/office/drawing/2014/main" id="{642EE24A-B89A-1E37-FB6D-36BCC072981F}"/>
              </a:ext>
            </a:extLst>
          </p:cNvPr>
          <p:cNvSpPr>
            <a:spLocks/>
          </p:cNvSpPr>
          <p:nvPr/>
        </p:nvSpPr>
        <p:spPr bwMode="auto">
          <a:xfrm>
            <a:off x="8631357" y="5066778"/>
            <a:ext cx="254048" cy="202761"/>
          </a:xfrm>
          <a:custGeom>
            <a:avLst/>
            <a:gdLst>
              <a:gd name="T0" fmla="*/ 90 w 90"/>
              <a:gd name="T1" fmla="*/ 9 h 72"/>
              <a:gd name="T2" fmla="*/ 81 w 90"/>
              <a:gd name="T3" fmla="*/ 9 h 72"/>
              <a:gd name="T4" fmla="*/ 86 w 90"/>
              <a:gd name="T5" fmla="*/ 1 h 72"/>
              <a:gd name="T6" fmla="*/ 75 w 90"/>
              <a:gd name="T7" fmla="*/ 6 h 72"/>
              <a:gd name="T8" fmla="*/ 61 w 90"/>
              <a:gd name="T9" fmla="*/ 0 h 72"/>
              <a:gd name="T10" fmla="*/ 43 w 90"/>
              <a:gd name="T11" fmla="*/ 18 h 72"/>
              <a:gd name="T12" fmla="*/ 44 w 90"/>
              <a:gd name="T13" fmla="*/ 22 h 72"/>
              <a:gd name="T14" fmla="*/ 6 w 90"/>
              <a:gd name="T15" fmla="*/ 3 h 72"/>
              <a:gd name="T16" fmla="*/ 4 w 90"/>
              <a:gd name="T17" fmla="*/ 12 h 72"/>
              <a:gd name="T18" fmla="*/ 12 w 90"/>
              <a:gd name="T19" fmla="*/ 28 h 72"/>
              <a:gd name="T20" fmla="*/ 4 w 90"/>
              <a:gd name="T21" fmla="*/ 25 h 72"/>
              <a:gd name="T22" fmla="*/ 4 w 90"/>
              <a:gd name="T23" fmla="*/ 26 h 72"/>
              <a:gd name="T24" fmla="*/ 18 w 90"/>
              <a:gd name="T25" fmla="*/ 43 h 72"/>
              <a:gd name="T26" fmla="*/ 10 w 90"/>
              <a:gd name="T27" fmla="*/ 44 h 72"/>
              <a:gd name="T28" fmla="*/ 27 w 90"/>
              <a:gd name="T29" fmla="*/ 56 h 72"/>
              <a:gd name="T30" fmla="*/ 0 w 90"/>
              <a:gd name="T31" fmla="*/ 64 h 72"/>
              <a:gd name="T32" fmla="*/ 28 w 90"/>
              <a:gd name="T33" fmla="*/ 72 h 72"/>
              <a:gd name="T34" fmla="*/ 80 w 90"/>
              <a:gd name="T35" fmla="*/ 20 h 72"/>
              <a:gd name="T36" fmla="*/ 80 w 90"/>
              <a:gd name="T37" fmla="*/ 18 h 72"/>
              <a:gd name="T38" fmla="*/ 90 w 90"/>
              <a:gd name="T39" fmla="*/ 9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0" h="72">
                <a:moveTo>
                  <a:pt x="90" y="9"/>
                </a:moveTo>
                <a:cubicBezTo>
                  <a:pt x="87" y="11"/>
                  <a:pt x="84" y="11"/>
                  <a:pt x="81" y="9"/>
                </a:cubicBezTo>
                <a:cubicBezTo>
                  <a:pt x="85" y="7"/>
                  <a:pt x="85" y="6"/>
                  <a:pt x="86" y="1"/>
                </a:cubicBezTo>
                <a:cubicBezTo>
                  <a:pt x="83" y="3"/>
                  <a:pt x="79" y="5"/>
                  <a:pt x="75" y="6"/>
                </a:cubicBezTo>
                <a:cubicBezTo>
                  <a:pt x="71" y="2"/>
                  <a:pt x="67" y="0"/>
                  <a:pt x="61" y="0"/>
                </a:cubicBezTo>
                <a:cubicBezTo>
                  <a:pt x="51" y="0"/>
                  <a:pt x="43" y="8"/>
                  <a:pt x="43" y="18"/>
                </a:cubicBezTo>
                <a:cubicBezTo>
                  <a:pt x="43" y="20"/>
                  <a:pt x="43" y="21"/>
                  <a:pt x="44" y="22"/>
                </a:cubicBezTo>
                <a:cubicBezTo>
                  <a:pt x="29" y="22"/>
                  <a:pt x="15" y="14"/>
                  <a:pt x="6" y="3"/>
                </a:cubicBezTo>
                <a:cubicBezTo>
                  <a:pt x="5" y="6"/>
                  <a:pt x="4" y="9"/>
                  <a:pt x="4" y="12"/>
                </a:cubicBezTo>
                <a:cubicBezTo>
                  <a:pt x="4" y="19"/>
                  <a:pt x="7" y="24"/>
                  <a:pt x="12" y="28"/>
                </a:cubicBezTo>
                <a:cubicBezTo>
                  <a:pt x="9" y="27"/>
                  <a:pt x="6" y="27"/>
                  <a:pt x="4" y="25"/>
                </a:cubicBezTo>
                <a:cubicBezTo>
                  <a:pt x="4" y="25"/>
                  <a:pt x="4" y="25"/>
                  <a:pt x="4" y="26"/>
                </a:cubicBezTo>
                <a:cubicBezTo>
                  <a:pt x="4" y="34"/>
                  <a:pt x="10" y="42"/>
                  <a:pt x="18" y="43"/>
                </a:cubicBezTo>
                <a:cubicBezTo>
                  <a:pt x="15" y="44"/>
                  <a:pt x="13" y="44"/>
                  <a:pt x="10" y="44"/>
                </a:cubicBezTo>
                <a:cubicBezTo>
                  <a:pt x="12" y="51"/>
                  <a:pt x="19" y="56"/>
                  <a:pt x="27" y="56"/>
                </a:cubicBezTo>
                <a:cubicBezTo>
                  <a:pt x="19" y="62"/>
                  <a:pt x="9" y="65"/>
                  <a:pt x="0" y="64"/>
                </a:cubicBezTo>
                <a:cubicBezTo>
                  <a:pt x="8" y="69"/>
                  <a:pt x="18" y="72"/>
                  <a:pt x="28" y="72"/>
                </a:cubicBezTo>
                <a:cubicBezTo>
                  <a:pt x="61" y="72"/>
                  <a:pt x="80" y="44"/>
                  <a:pt x="80" y="20"/>
                </a:cubicBezTo>
                <a:cubicBezTo>
                  <a:pt x="80" y="19"/>
                  <a:pt x="80" y="19"/>
                  <a:pt x="80" y="18"/>
                </a:cubicBezTo>
                <a:cubicBezTo>
                  <a:pt x="83" y="15"/>
                  <a:pt x="87" y="13"/>
                  <a:pt x="90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7589E-1099-5D4D-9EAD-DC67E792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0369"/>
            <a:ext cx="12192000" cy="560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F22A-BA9C-879A-9421-9B11F661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D3D74FE0-B0C4-A3A9-D397-299344EAD731}"/>
              </a:ext>
            </a:extLst>
          </p:cNvPr>
          <p:cNvSpPr txBox="1"/>
          <p:nvPr/>
        </p:nvSpPr>
        <p:spPr>
          <a:xfrm>
            <a:off x="724395" y="1949691"/>
            <a:ext cx="10996698" cy="196977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Summary: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Volume:</a:t>
            </a:r>
            <a:r>
              <a:rPr lang="en-US" dirty="0"/>
              <a:t> Terrorism has increased drastically in the 21st century compared to the 20th.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Geography:</a:t>
            </a:r>
            <a:r>
              <a:rPr lang="en-US" dirty="0"/>
              <a:t> Violence is highly localized in conflict zones (Iraq, Afghanistan, Pakistan), not global.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Tactics:</a:t>
            </a:r>
            <a:r>
              <a:rPr lang="en-US" dirty="0"/>
              <a:t> Explosives and attacks on civilians remain the primary </a:t>
            </a:r>
            <a:r>
              <a:rPr lang="en-US" i="1" dirty="0"/>
              <a:t>modus operandi</a:t>
            </a:r>
            <a:r>
              <a:rPr lang="en-US" dirty="0"/>
              <a:t>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n-US" b="1" dirty="0"/>
              <a:t>Final Thought:</a:t>
            </a:r>
            <a:r>
              <a:rPr lang="en-US" dirty="0"/>
              <a:t> Data analysis reveals that while terrorism is a global concern, its most devastating impacts are concentrated in specific regions and eras.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2312FA5D-BBE6-6EFC-7082-A1D322B96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2267" y="1460593"/>
            <a:ext cx="385764" cy="3857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53286D20-430C-BFD4-AC3E-76D004E4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23189CCF-FA77-8FAA-C756-199F333B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31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0" y="1"/>
            <a:ext cx="6096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5D1319-7BD4-47DE-B3DF-55B655BB3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4167699" y="1500699"/>
            <a:ext cx="3856602" cy="3856602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3" y="2274840"/>
            <a:ext cx="330407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3681074" y="4409266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ED9FB-5603-488F-827B-05F43B91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5424287" y="621132"/>
            <a:ext cx="1343428" cy="1343428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70618-CDC0-4C13-8EE9-54ABCDECF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9988" y="5809950"/>
            <a:ext cx="2096100" cy="1048050"/>
          </a:xfrm>
          <a:custGeom>
            <a:avLst/>
            <a:gdLst>
              <a:gd name="connsiteX0" fmla="*/ 1048050 w 2096100"/>
              <a:gd name="connsiteY0" fmla="*/ 0 h 1048050"/>
              <a:gd name="connsiteX1" fmla="*/ 1172234 w 2096100"/>
              <a:gd name="connsiteY1" fmla="*/ 51439 h 1048050"/>
              <a:gd name="connsiteX2" fmla="*/ 2044661 w 2096100"/>
              <a:gd name="connsiteY2" fmla="*/ 923866 h 1048050"/>
              <a:gd name="connsiteX3" fmla="*/ 2096100 w 2096100"/>
              <a:gd name="connsiteY3" fmla="*/ 1048050 h 1048050"/>
              <a:gd name="connsiteX4" fmla="*/ 0 w 2096100"/>
              <a:gd name="connsiteY4" fmla="*/ 1048050 h 1048050"/>
              <a:gd name="connsiteX5" fmla="*/ 51439 w 2096100"/>
              <a:gd name="connsiteY5" fmla="*/ 923866 h 1048050"/>
              <a:gd name="connsiteX6" fmla="*/ 923866 w 2096100"/>
              <a:gd name="connsiteY6" fmla="*/ 51439 h 1048050"/>
              <a:gd name="connsiteX7" fmla="*/ 1048050 w 2096100"/>
              <a:gd name="connsiteY7" fmla="*/ 0 h 10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6100" h="1048050">
                <a:moveTo>
                  <a:pt x="1048050" y="0"/>
                </a:moveTo>
                <a:cubicBezTo>
                  <a:pt x="1092996" y="0"/>
                  <a:pt x="1137942" y="17146"/>
                  <a:pt x="1172234" y="51439"/>
                </a:cubicBezTo>
                <a:lnTo>
                  <a:pt x="2044661" y="923866"/>
                </a:lnTo>
                <a:cubicBezTo>
                  <a:pt x="2078954" y="958158"/>
                  <a:pt x="2096100" y="1003104"/>
                  <a:pt x="2096100" y="1048050"/>
                </a:cubicBezTo>
                <a:lnTo>
                  <a:pt x="0" y="1048050"/>
                </a:lnTo>
                <a:cubicBezTo>
                  <a:pt x="0" y="1003104"/>
                  <a:pt x="17147" y="958158"/>
                  <a:pt x="51439" y="923866"/>
                </a:cubicBezTo>
                <a:lnTo>
                  <a:pt x="923866" y="51439"/>
                </a:lnTo>
                <a:cubicBezTo>
                  <a:pt x="958159" y="17146"/>
                  <a:pt x="1003104" y="0"/>
                  <a:pt x="104805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6C762C-2601-4280-8833-726D27D8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68607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000000"/>
      </a:dk1>
      <a:lt1>
        <a:srgbClr val="FFFFFF"/>
      </a:lt1>
      <a:dk2>
        <a:srgbClr val="000073"/>
      </a:dk2>
      <a:lt2>
        <a:srgbClr val="FFE6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676778_Dashboard, from 24Slides_SL_V1.pptx" id="{295C4539-006B-481B-BB49-AA6696014542}" vid="{08D33979-AB7E-4584-851D-4053B37BB9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EC375F-F377-4CDC-ADF0-CC8811D177D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1B0ABC2-BF39-4F70-A7AD-9DFBD1D27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1A1251-DA89-493A-8204-679220DD13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Dashboard, from 24Slides</Template>
  <TotalTime>125</TotalTime>
  <Words>752</Words>
  <Application>Microsoft Office PowerPoint</Application>
  <PresentationFormat>Widescreen</PresentationFormat>
  <Paragraphs>92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Segoe UI Light</vt:lpstr>
      <vt:lpstr>Office Theme</vt:lpstr>
      <vt:lpstr>Slide 1</vt:lpstr>
      <vt:lpstr>PowerPoint Presentation</vt:lpstr>
      <vt:lpstr>Objective &amp; Dataset</vt:lpstr>
      <vt:lpstr>The "When" – Global Trends Over Time</vt:lpstr>
      <vt:lpstr>The "Where" – Geospatial Hotspots</vt:lpstr>
      <vt:lpstr>The "Who" – Major Perpetrators</vt:lpstr>
      <vt:lpstr>The "How" – Tactics &amp; Targets</vt:lpstr>
      <vt:lpstr>Impact Analysis – Lethality</vt:lpstr>
      <vt:lpstr>Interactive Streamlit Dashboard</vt:lpstr>
      <vt:lpstr>Interactive Streamlit Dashboard</vt:lpstr>
      <vt:lpstr>Conclusion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KSHITIJ PANDIT</dc:creator>
  <cp:lastModifiedBy>KSHITIJ PANDIT</cp:lastModifiedBy>
  <cp:revision>2</cp:revision>
  <dcterms:created xsi:type="dcterms:W3CDTF">2026-02-06T08:29:52Z</dcterms:created>
  <dcterms:modified xsi:type="dcterms:W3CDTF">2026-02-06T11:29:12Z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